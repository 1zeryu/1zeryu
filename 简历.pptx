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2636"/>
    <a:srgbClr val="575757"/>
    <a:srgbClr val="FFFFFF"/>
    <a:srgbClr val="4E7082"/>
    <a:srgbClr val="385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392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E7DB68-C3DE-4005-A345-EC79EE75BF9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7AEB08-D1C9-49BA-82FC-57209F511F0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178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7AEB08-D1C9-49BA-82FC-57209F511F0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042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135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824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41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60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61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602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1204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755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33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889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9884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780448-4F8B-4562-AA03-CE48F3C559E5}" type="datetimeFigureOut">
              <a:rPr lang="zh-CN" altLang="en-US" smtClean="0"/>
              <a:t>2022/8/7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B89A64-36D4-4155-8825-572291C8670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1079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0CE139C0-1DEA-6B18-EF01-E9CF526DAA59}"/>
              </a:ext>
            </a:extLst>
          </p:cNvPr>
          <p:cNvGrpSpPr/>
          <p:nvPr/>
        </p:nvGrpSpPr>
        <p:grpSpPr>
          <a:xfrm>
            <a:off x="0" y="250146"/>
            <a:ext cx="6858000" cy="144000"/>
            <a:chOff x="0" y="1"/>
            <a:chExt cx="6858000" cy="196849"/>
          </a:xfrm>
        </p:grpSpPr>
        <p:sp>
          <p:nvSpPr>
            <p:cNvPr id="4" name="Rectangle 2">
              <a:extLst>
                <a:ext uri="{FF2B5EF4-FFF2-40B4-BE49-F238E27FC236}">
                  <a16:creationId xmlns:a16="http://schemas.microsoft.com/office/drawing/2014/main" id="{CDE8D5F4-E4FA-9470-3863-F01D95971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" y="1"/>
              <a:ext cx="6233160" cy="196849"/>
            </a:xfrm>
            <a:prstGeom prst="rect">
              <a:avLst/>
            </a:prstGeom>
            <a:solidFill>
              <a:srgbClr val="2346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5" name="Rectangle 2">
              <a:extLst>
                <a:ext uri="{FF2B5EF4-FFF2-40B4-BE49-F238E27FC236}">
                  <a16:creationId xmlns:a16="http://schemas.microsoft.com/office/drawing/2014/main" id="{6A8763DB-112B-9303-89D0-1E703BC0A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"/>
              <a:ext cx="425450" cy="196849"/>
            </a:xfrm>
            <a:prstGeom prst="rect">
              <a:avLst/>
            </a:prstGeom>
            <a:solidFill>
              <a:srgbClr val="2346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C17E20DA-D76A-A0B8-6056-BE2E0A1EA14D}"/>
              </a:ext>
            </a:extLst>
          </p:cNvPr>
          <p:cNvGrpSpPr/>
          <p:nvPr/>
        </p:nvGrpSpPr>
        <p:grpSpPr>
          <a:xfrm>
            <a:off x="268255" y="531524"/>
            <a:ext cx="5202662" cy="384760"/>
            <a:chOff x="206339" y="1093718"/>
            <a:chExt cx="5202662" cy="384760"/>
          </a:xfrm>
        </p:grpSpPr>
        <p:pic>
          <p:nvPicPr>
            <p:cNvPr id="6" name="image1.png">
              <a:extLst>
                <a:ext uri="{FF2B5EF4-FFF2-40B4-BE49-F238E27FC236}">
                  <a16:creationId xmlns:a16="http://schemas.microsoft.com/office/drawing/2014/main" id="{0DAE8548-97F6-AE77-EBC3-79EA80050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6339" y="1093718"/>
              <a:ext cx="360680" cy="360045"/>
            </a:xfrm>
            <a:prstGeom prst="rect">
              <a:avLst/>
            </a:prstGeom>
          </p:spPr>
        </p:pic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0F26A521-3EE3-1677-D310-F66A598941A7}"/>
                </a:ext>
              </a:extLst>
            </p:cNvPr>
            <p:cNvGrpSpPr/>
            <p:nvPr/>
          </p:nvGrpSpPr>
          <p:grpSpPr>
            <a:xfrm>
              <a:off x="624840" y="1130815"/>
              <a:ext cx="4784161" cy="347663"/>
              <a:chOff x="624840" y="1130815"/>
              <a:chExt cx="4784161" cy="347663"/>
            </a:xfrm>
          </p:grpSpPr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EC970B9B-1434-5833-57E2-C085E92C05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5797"/>
                <a:ext cx="4680000" cy="0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64AA2431-9243-6CEC-42C0-7C3E40948959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3" name="组合 12">
                  <a:extLst>
                    <a:ext uri="{FF2B5EF4-FFF2-40B4-BE49-F238E27FC236}">
                      <a16:creationId xmlns:a16="http://schemas.microsoft.com/office/drawing/2014/main" id="{FFA635B5-74F5-E883-8395-49CEC10B25FB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1" name="梯形 10">
                    <a:extLst>
                      <a:ext uri="{FF2B5EF4-FFF2-40B4-BE49-F238E27FC236}">
                        <a16:creationId xmlns:a16="http://schemas.microsoft.com/office/drawing/2014/main" id="{15F43C1E-BBD4-3E04-3272-5ED05A8B5139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5DDAD627-BD16-20FA-1E94-B449AA27B680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5" name="平行四边形 14">
                  <a:extLst>
                    <a:ext uri="{FF2B5EF4-FFF2-40B4-BE49-F238E27FC236}">
                      <a16:creationId xmlns:a16="http://schemas.microsoft.com/office/drawing/2014/main" id="{37FE26AF-5AA2-C881-82AE-4709E63848BF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平行四边形 15">
                  <a:extLst>
                    <a:ext uri="{FF2B5EF4-FFF2-40B4-BE49-F238E27FC236}">
                      <a16:creationId xmlns:a16="http://schemas.microsoft.com/office/drawing/2014/main" id="{5FAEEC8B-66C7-6A51-0B58-8FF6AC68BE48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908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直角三角形 20">
                  <a:extLst>
                    <a:ext uri="{FF2B5EF4-FFF2-40B4-BE49-F238E27FC236}">
                      <a16:creationId xmlns:a16="http://schemas.microsoft.com/office/drawing/2014/main" id="{26C8BC6A-C260-819A-E813-A2F115205639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D692463-B0D7-ACA8-3035-0F6D3DB00E64}"/>
                </a:ext>
              </a:extLst>
            </p:cNvPr>
            <p:cNvSpPr txBox="1"/>
            <p:nvPr/>
          </p:nvSpPr>
          <p:spPr>
            <a:xfrm>
              <a:off x="586910" y="1124206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个人信息</a:t>
              </a:r>
            </a:p>
          </p:txBody>
        </p:sp>
      </p:grpSp>
      <p:sp>
        <p:nvSpPr>
          <p:cNvPr id="43" name="矩形 42">
            <a:extLst>
              <a:ext uri="{FF2B5EF4-FFF2-40B4-BE49-F238E27FC236}">
                <a16:creationId xmlns:a16="http://schemas.microsoft.com/office/drawing/2014/main" id="{23ADF0DD-771C-E043-B3B3-8834DD3FAB94}"/>
              </a:ext>
            </a:extLst>
          </p:cNvPr>
          <p:cNvSpPr/>
          <p:nvPr/>
        </p:nvSpPr>
        <p:spPr>
          <a:xfrm>
            <a:off x="5770411" y="891569"/>
            <a:ext cx="962146" cy="13534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D6E65BF-A3FC-B235-1B7F-41C1A26E428C}"/>
              </a:ext>
            </a:extLst>
          </p:cNvPr>
          <p:cNvSpPr txBox="1"/>
          <p:nvPr/>
        </p:nvSpPr>
        <p:spPr>
          <a:xfrm>
            <a:off x="217805" y="1204198"/>
            <a:ext cx="13573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575757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周钰坤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4B24455-ED75-F53D-0EED-C88276328388}"/>
              </a:ext>
            </a:extLst>
          </p:cNvPr>
          <p:cNvSpPr txBox="1"/>
          <p:nvPr/>
        </p:nvSpPr>
        <p:spPr>
          <a:xfrm>
            <a:off x="1724083" y="1037633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100" dirty="0">
              <a:solidFill>
                <a:srgbClr val="575757"/>
              </a:solidFill>
              <a:latin typeface="Timess New Roman"/>
            </a:endParaRPr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BEE3E95-43B4-DD3F-9FB6-08032CF3875E}"/>
              </a:ext>
            </a:extLst>
          </p:cNvPr>
          <p:cNvGrpSpPr/>
          <p:nvPr/>
        </p:nvGrpSpPr>
        <p:grpSpPr>
          <a:xfrm>
            <a:off x="264161" y="2064762"/>
            <a:ext cx="6335670" cy="354272"/>
            <a:chOff x="264161" y="2057664"/>
            <a:chExt cx="6335670" cy="354272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7B55D07C-458D-FCED-27B6-116D0CE59BD2}"/>
                </a:ext>
              </a:extLst>
            </p:cNvPr>
            <p:cNvGrpSpPr/>
            <p:nvPr/>
          </p:nvGrpSpPr>
          <p:grpSpPr>
            <a:xfrm>
              <a:off x="686756" y="2064273"/>
              <a:ext cx="5913075" cy="347663"/>
              <a:chOff x="624840" y="1130815"/>
              <a:chExt cx="5913075" cy="347663"/>
            </a:xfrm>
          </p:grpSpPr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9DF5B3E4-F0D8-767B-90A1-CD3C238B26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89E9D607-4DB7-2475-8A49-542910515F7E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36" name="组合 35">
                  <a:extLst>
                    <a:ext uri="{FF2B5EF4-FFF2-40B4-BE49-F238E27FC236}">
                      <a16:creationId xmlns:a16="http://schemas.microsoft.com/office/drawing/2014/main" id="{1C97A7C7-BA5B-F0D2-5558-E0DC44F9CC34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40" name="梯形 39">
                    <a:extLst>
                      <a:ext uri="{FF2B5EF4-FFF2-40B4-BE49-F238E27FC236}">
                        <a16:creationId xmlns:a16="http://schemas.microsoft.com/office/drawing/2014/main" id="{5F210DDD-CA02-9BA9-A6EB-44FAFC72EE50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33A9584E-79B7-4A49-B190-84016ECE8DB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37" name="平行四边形 36">
                  <a:extLst>
                    <a:ext uri="{FF2B5EF4-FFF2-40B4-BE49-F238E27FC236}">
                      <a16:creationId xmlns:a16="http://schemas.microsoft.com/office/drawing/2014/main" id="{F72124E8-FBA5-F36B-8679-DA244CD273F3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8" name="平行四边形 37">
                  <a:extLst>
                    <a:ext uri="{FF2B5EF4-FFF2-40B4-BE49-F238E27FC236}">
                      <a16:creationId xmlns:a16="http://schemas.microsoft.com/office/drawing/2014/main" id="{AD1504BD-39CB-3EA9-B99B-26F7C557C818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557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" name="直角三角形 38">
                  <a:extLst>
                    <a:ext uri="{FF2B5EF4-FFF2-40B4-BE49-F238E27FC236}">
                      <a16:creationId xmlns:a16="http://schemas.microsoft.com/office/drawing/2014/main" id="{8B84D9B8-9FBB-1FE6-7380-79ED40457937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7772BA0-FE57-399D-2E60-3BCA1AA21748}"/>
                </a:ext>
              </a:extLst>
            </p:cNvPr>
            <p:cNvSpPr txBox="1"/>
            <p:nvPr/>
          </p:nvSpPr>
          <p:spPr>
            <a:xfrm>
              <a:off x="648826" y="2057664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成绩排名</a:t>
              </a:r>
            </a:p>
          </p:txBody>
        </p:sp>
        <p:pic>
          <p:nvPicPr>
            <p:cNvPr id="1035" name="Picture 11">
              <a:extLst>
                <a:ext uri="{FF2B5EF4-FFF2-40B4-BE49-F238E27FC236}">
                  <a16:creationId xmlns:a16="http://schemas.microsoft.com/office/drawing/2014/main" id="{E4C36E66-3259-2FB8-8BC5-6942065BE3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161" y="2058103"/>
              <a:ext cx="360680" cy="273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57" name="文本框 56">
            <a:extLst>
              <a:ext uri="{FF2B5EF4-FFF2-40B4-BE49-F238E27FC236}">
                <a16:creationId xmlns:a16="http://schemas.microsoft.com/office/drawing/2014/main" id="{ACDE2DF8-E4DB-6E64-B1D3-13576DA580E2}"/>
              </a:ext>
            </a:extLst>
          </p:cNvPr>
          <p:cNvSpPr txBox="1"/>
          <p:nvPr/>
        </p:nvSpPr>
        <p:spPr>
          <a:xfrm>
            <a:off x="3677888" y="1037633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100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B1265A5-B252-3DC2-EAA6-63E165D97326}"/>
              </a:ext>
            </a:extLst>
          </p:cNvPr>
          <p:cNvSpPr txBox="1"/>
          <p:nvPr/>
        </p:nvSpPr>
        <p:spPr>
          <a:xfrm>
            <a:off x="686757" y="2397591"/>
            <a:ext cx="21392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100" b="1">
                <a:solidFill>
                  <a:srgbClr val="575757"/>
                </a:solidFill>
                <a:latin typeface="Timess New Roman"/>
              </a:defRPr>
            </a:lvl1pPr>
          </a:lstStyle>
          <a:p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2EC4802-36D7-7CE0-C7C7-D3518B8BF346}"/>
              </a:ext>
            </a:extLst>
          </p:cNvPr>
          <p:cNvSpPr txBox="1"/>
          <p:nvPr/>
        </p:nvSpPr>
        <p:spPr>
          <a:xfrm>
            <a:off x="585722" y="3189755"/>
            <a:ext cx="36205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sz="1100" b="1" dirty="0">
              <a:solidFill>
                <a:srgbClr val="575757"/>
              </a:solidFill>
              <a:latin typeface="Timess New Roman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ED7FA13A-00B8-575B-7396-C2E8375DBA15}"/>
              </a:ext>
            </a:extLst>
          </p:cNvPr>
          <p:cNvGrpSpPr/>
          <p:nvPr/>
        </p:nvGrpSpPr>
        <p:grpSpPr>
          <a:xfrm>
            <a:off x="302298" y="3182674"/>
            <a:ext cx="6293976" cy="354272"/>
            <a:chOff x="305855" y="4091574"/>
            <a:chExt cx="6293976" cy="354272"/>
          </a:xfrm>
        </p:grpSpPr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6B5B4078-78A2-9D3C-0BBD-4E81BEE7CF4A}"/>
                </a:ext>
              </a:extLst>
            </p:cNvPr>
            <p:cNvGrpSpPr/>
            <p:nvPr/>
          </p:nvGrpSpPr>
          <p:grpSpPr>
            <a:xfrm>
              <a:off x="686756" y="4098183"/>
              <a:ext cx="5913075" cy="347663"/>
              <a:chOff x="624840" y="1130815"/>
              <a:chExt cx="5913075" cy="347663"/>
            </a:xfrm>
          </p:grpSpPr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D51CBD66-1EDA-853B-FB3A-A947E1130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组合 94">
                <a:extLst>
                  <a:ext uri="{FF2B5EF4-FFF2-40B4-BE49-F238E27FC236}">
                    <a16:creationId xmlns:a16="http://schemas.microsoft.com/office/drawing/2014/main" id="{5CAAA89C-B286-9B9D-CB0C-DCABF017D2A4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42CADAC5-6FE7-AFBB-2EA4-A44ED77FA592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00" name="梯形 99">
                    <a:extLst>
                      <a:ext uri="{FF2B5EF4-FFF2-40B4-BE49-F238E27FC236}">
                        <a16:creationId xmlns:a16="http://schemas.microsoft.com/office/drawing/2014/main" id="{E5FBAC1A-EF2C-07F3-22CC-1A06DEBAA818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1" name="矩形 100">
                    <a:extLst>
                      <a:ext uri="{FF2B5EF4-FFF2-40B4-BE49-F238E27FC236}">
                        <a16:creationId xmlns:a16="http://schemas.microsoft.com/office/drawing/2014/main" id="{CEA15FEE-407B-0080-EC8B-A615D1A67A5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97" name="平行四边形 96">
                  <a:extLst>
                    <a:ext uri="{FF2B5EF4-FFF2-40B4-BE49-F238E27FC236}">
                      <a16:creationId xmlns:a16="http://schemas.microsoft.com/office/drawing/2014/main" id="{1FE5DF0A-7429-5ADA-8EA9-26CA4628962B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8" name="平行四边形 97">
                  <a:extLst>
                    <a:ext uri="{FF2B5EF4-FFF2-40B4-BE49-F238E27FC236}">
                      <a16:creationId xmlns:a16="http://schemas.microsoft.com/office/drawing/2014/main" id="{6670DECA-0AE3-847C-43BB-21F8525ABAFB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3154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9" name="直角三角形 98">
                  <a:extLst>
                    <a:ext uri="{FF2B5EF4-FFF2-40B4-BE49-F238E27FC236}">
                      <a16:creationId xmlns:a16="http://schemas.microsoft.com/office/drawing/2014/main" id="{47B5BBE2-B2D9-D667-6DB1-287B1ECB0843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023664D4-140C-C1F0-B482-4C451444FA7A}"/>
                </a:ext>
              </a:extLst>
            </p:cNvPr>
            <p:cNvSpPr txBox="1"/>
            <p:nvPr/>
          </p:nvSpPr>
          <p:spPr>
            <a:xfrm>
              <a:off x="648826" y="4091574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技术技能</a:t>
              </a:r>
            </a:p>
          </p:txBody>
        </p:sp>
        <p:pic>
          <p:nvPicPr>
            <p:cNvPr id="89" name="图形 88">
              <a:extLst>
                <a:ext uri="{FF2B5EF4-FFF2-40B4-BE49-F238E27FC236}">
                  <a16:creationId xmlns:a16="http://schemas.microsoft.com/office/drawing/2014/main" id="{97B00402-F0ED-C9A6-B184-A4EA0FA59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5855" y="4118917"/>
              <a:ext cx="284962" cy="284962"/>
            </a:xfrm>
            <a:prstGeom prst="rect">
              <a:avLst/>
            </a:prstGeom>
          </p:spPr>
        </p:pic>
      </p:grpSp>
      <p:pic>
        <p:nvPicPr>
          <p:cNvPr id="1045" name="Picture 21">
            <a:extLst>
              <a:ext uri="{FF2B5EF4-FFF2-40B4-BE49-F238E27FC236}">
                <a16:creationId xmlns:a16="http://schemas.microsoft.com/office/drawing/2014/main" id="{2373BDD7-6D8B-DE2D-6199-A07D6AB4F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670" y="9385784"/>
            <a:ext cx="1268330" cy="379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6777A4C8-33A7-6BC9-7181-F0049AACD430}"/>
              </a:ext>
            </a:extLst>
          </p:cNvPr>
          <p:cNvGrpSpPr/>
          <p:nvPr/>
        </p:nvGrpSpPr>
        <p:grpSpPr>
          <a:xfrm>
            <a:off x="264161" y="8599485"/>
            <a:ext cx="6290721" cy="354272"/>
            <a:chOff x="309110" y="4692962"/>
            <a:chExt cx="6290721" cy="354272"/>
          </a:xfrm>
        </p:grpSpPr>
        <p:pic>
          <p:nvPicPr>
            <p:cNvPr id="1050" name="Picture 26">
              <a:extLst>
                <a:ext uri="{FF2B5EF4-FFF2-40B4-BE49-F238E27FC236}">
                  <a16:creationId xmlns:a16="http://schemas.microsoft.com/office/drawing/2014/main" id="{14CCA1A3-C30A-E3E6-A6DE-BB1F12C82C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110" y="4701673"/>
              <a:ext cx="314325" cy="313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BD7563F-39DC-03A2-80CB-1AA577F58DF8}"/>
                </a:ext>
              </a:extLst>
            </p:cNvPr>
            <p:cNvGrpSpPr/>
            <p:nvPr/>
          </p:nvGrpSpPr>
          <p:grpSpPr>
            <a:xfrm>
              <a:off x="686756" y="4699571"/>
              <a:ext cx="5913075" cy="347663"/>
              <a:chOff x="624840" y="1130815"/>
              <a:chExt cx="5913075" cy="347663"/>
            </a:xfrm>
          </p:grpSpPr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B11C22DD-F1FB-7519-18E6-63C2735822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4" name="组合 123">
                <a:extLst>
                  <a:ext uri="{FF2B5EF4-FFF2-40B4-BE49-F238E27FC236}">
                    <a16:creationId xmlns:a16="http://schemas.microsoft.com/office/drawing/2014/main" id="{168079C4-4281-6917-88E2-B1B5B106FFE9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25" name="组合 124">
                  <a:extLst>
                    <a:ext uri="{FF2B5EF4-FFF2-40B4-BE49-F238E27FC236}">
                      <a16:creationId xmlns:a16="http://schemas.microsoft.com/office/drawing/2014/main" id="{A6DCE786-D6F8-0959-95BF-C8CBE70149CF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29" name="梯形 128">
                    <a:extLst>
                      <a:ext uri="{FF2B5EF4-FFF2-40B4-BE49-F238E27FC236}">
                        <a16:creationId xmlns:a16="http://schemas.microsoft.com/office/drawing/2014/main" id="{2F0DD290-643B-DB49-3548-1EC0F11FB027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0" name="矩形 129">
                    <a:extLst>
                      <a:ext uri="{FF2B5EF4-FFF2-40B4-BE49-F238E27FC236}">
                        <a16:creationId xmlns:a16="http://schemas.microsoft.com/office/drawing/2014/main" id="{814DE60E-D7F6-AB78-FE11-61A845B6020F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26" name="平行四边形 125">
                  <a:extLst>
                    <a:ext uri="{FF2B5EF4-FFF2-40B4-BE49-F238E27FC236}">
                      <a16:creationId xmlns:a16="http://schemas.microsoft.com/office/drawing/2014/main" id="{A6D070A9-667F-613D-1BFA-D1D28D5AFE23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7" name="平行四边形 126">
                  <a:extLst>
                    <a:ext uri="{FF2B5EF4-FFF2-40B4-BE49-F238E27FC236}">
                      <a16:creationId xmlns:a16="http://schemas.microsoft.com/office/drawing/2014/main" id="{23182FFF-2037-0E76-E0E6-AC5D288FC2F4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4557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28" name="直角三角形 127">
                  <a:extLst>
                    <a:ext uri="{FF2B5EF4-FFF2-40B4-BE49-F238E27FC236}">
                      <a16:creationId xmlns:a16="http://schemas.microsoft.com/office/drawing/2014/main" id="{6F330295-9879-2BE1-373F-A5DA5ABAA1E0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08C3D254-0F07-32E9-536D-D3D6B544DCDC}"/>
                </a:ext>
              </a:extLst>
            </p:cNvPr>
            <p:cNvSpPr txBox="1"/>
            <p:nvPr/>
          </p:nvSpPr>
          <p:spPr>
            <a:xfrm>
              <a:off x="648826" y="4692962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学生工作</a:t>
              </a:r>
            </a:p>
          </p:txBody>
        </p: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14F67889-2AC5-8A94-60DA-6734FBD52541}"/>
              </a:ext>
            </a:extLst>
          </p:cNvPr>
          <p:cNvGrpSpPr/>
          <p:nvPr/>
        </p:nvGrpSpPr>
        <p:grpSpPr>
          <a:xfrm>
            <a:off x="314363" y="5457213"/>
            <a:ext cx="6285469" cy="354272"/>
            <a:chOff x="314362" y="4906192"/>
            <a:chExt cx="6285469" cy="354272"/>
          </a:xfrm>
        </p:grpSpPr>
        <p:pic>
          <p:nvPicPr>
            <p:cNvPr id="117" name="图形 116">
              <a:extLst>
                <a:ext uri="{FF2B5EF4-FFF2-40B4-BE49-F238E27FC236}">
                  <a16:creationId xmlns:a16="http://schemas.microsoft.com/office/drawing/2014/main" id="{F88A63C4-7023-4677-ACC0-7E23A2F64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14362" y="4917089"/>
              <a:ext cx="304858" cy="304858"/>
            </a:xfrm>
            <a:prstGeom prst="rect">
              <a:avLst/>
            </a:prstGeom>
          </p:spPr>
        </p:pic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77AED351-D08A-05CA-2EBF-C7FE01DA1416}"/>
                </a:ext>
              </a:extLst>
            </p:cNvPr>
            <p:cNvGrpSpPr/>
            <p:nvPr/>
          </p:nvGrpSpPr>
          <p:grpSpPr>
            <a:xfrm>
              <a:off x="686756" y="4912801"/>
              <a:ext cx="5913075" cy="347663"/>
              <a:chOff x="624840" y="1130815"/>
              <a:chExt cx="5913075" cy="347663"/>
            </a:xfrm>
          </p:grpSpPr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2FA1146B-2F94-1D2B-A417-D27EEEFB92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01" y="1404245"/>
                <a:ext cx="5808914" cy="3"/>
              </a:xfrm>
              <a:prstGeom prst="line">
                <a:avLst/>
              </a:prstGeom>
              <a:ln w="19050">
                <a:solidFill>
                  <a:srgbClr val="4E708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EB987C46-788D-2159-33B4-8158BDAE6F58}"/>
                  </a:ext>
                </a:extLst>
              </p:cNvPr>
              <p:cNvGrpSpPr/>
              <p:nvPr/>
            </p:nvGrpSpPr>
            <p:grpSpPr>
              <a:xfrm>
                <a:off x="624840" y="1130815"/>
                <a:ext cx="1150438" cy="347663"/>
                <a:chOff x="624840" y="1130815"/>
                <a:chExt cx="1150438" cy="347663"/>
              </a:xfrm>
            </p:grpSpPr>
            <p:grpSp>
              <p:nvGrpSpPr>
                <p:cNvPr id="140" name="组合 139">
                  <a:extLst>
                    <a:ext uri="{FF2B5EF4-FFF2-40B4-BE49-F238E27FC236}">
                      <a16:creationId xmlns:a16="http://schemas.microsoft.com/office/drawing/2014/main" id="{30B910E1-581F-ED72-F557-63FCCAA0C15D}"/>
                    </a:ext>
                  </a:extLst>
                </p:cNvPr>
                <p:cNvGrpSpPr/>
                <p:nvPr/>
              </p:nvGrpSpPr>
              <p:grpSpPr>
                <a:xfrm>
                  <a:off x="624840" y="1130816"/>
                  <a:ext cx="962315" cy="282956"/>
                  <a:chOff x="752185" y="1281112"/>
                  <a:chExt cx="1652878" cy="871538"/>
                </a:xfrm>
              </p:grpSpPr>
              <p:sp>
                <p:nvSpPr>
                  <p:cNvPr id="144" name="梯形 143">
                    <a:extLst>
                      <a:ext uri="{FF2B5EF4-FFF2-40B4-BE49-F238E27FC236}">
                        <a16:creationId xmlns:a16="http://schemas.microsoft.com/office/drawing/2014/main" id="{3ED94ACC-5936-61DE-3F4B-54BDED3561AC}"/>
                      </a:ext>
                    </a:extLst>
                  </p:cNvPr>
                  <p:cNvSpPr/>
                  <p:nvPr/>
                </p:nvSpPr>
                <p:spPr>
                  <a:xfrm>
                    <a:off x="752475" y="1281113"/>
                    <a:ext cx="1652588" cy="871537"/>
                  </a:xfrm>
                  <a:prstGeom prst="trapezoid">
                    <a:avLst>
                      <a:gd name="adj" fmla="val 45110"/>
                    </a:avLst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45" name="矩形 144">
                    <a:extLst>
                      <a:ext uri="{FF2B5EF4-FFF2-40B4-BE49-F238E27FC236}">
                        <a16:creationId xmlns:a16="http://schemas.microsoft.com/office/drawing/2014/main" id="{68E388D5-5C03-12D2-1B32-9F7AF1C82203}"/>
                      </a:ext>
                    </a:extLst>
                  </p:cNvPr>
                  <p:cNvSpPr/>
                  <p:nvPr/>
                </p:nvSpPr>
                <p:spPr>
                  <a:xfrm>
                    <a:off x="752185" y="1281112"/>
                    <a:ext cx="357813" cy="871537"/>
                  </a:xfrm>
                  <a:prstGeom prst="rect">
                    <a:avLst/>
                  </a:prstGeom>
                  <a:solidFill>
                    <a:srgbClr val="4E708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141" name="平行四边形 140">
                  <a:extLst>
                    <a:ext uri="{FF2B5EF4-FFF2-40B4-BE49-F238E27FC236}">
                      <a16:creationId xmlns:a16="http://schemas.microsoft.com/office/drawing/2014/main" id="{F9800004-9A48-D18E-BB6B-F68065054706}"/>
                    </a:ext>
                  </a:extLst>
                </p:cNvPr>
                <p:cNvSpPr/>
                <p:nvPr/>
              </p:nvSpPr>
              <p:spPr>
                <a:xfrm flipH="1">
                  <a:off x="1487143" y="1130816"/>
                  <a:ext cx="176213" cy="282955"/>
                </a:xfrm>
                <a:prstGeom prst="parallelogram">
                  <a:avLst>
                    <a:gd name="adj" fmla="val 70590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平行四边形 141">
                  <a:extLst>
                    <a:ext uri="{FF2B5EF4-FFF2-40B4-BE49-F238E27FC236}">
                      <a16:creationId xmlns:a16="http://schemas.microsoft.com/office/drawing/2014/main" id="{D18875C1-AE23-6CEC-84A7-F18AAF3BE2A6}"/>
                    </a:ext>
                  </a:extLst>
                </p:cNvPr>
                <p:cNvSpPr/>
                <p:nvPr/>
              </p:nvSpPr>
              <p:spPr>
                <a:xfrm flipH="1">
                  <a:off x="1549056" y="1130815"/>
                  <a:ext cx="226222" cy="282955"/>
                </a:xfrm>
                <a:prstGeom prst="parallelogram">
                  <a:avLst>
                    <a:gd name="adj" fmla="val 53154"/>
                  </a:avLst>
                </a:prstGeom>
                <a:solidFill>
                  <a:srgbClr val="4E70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直角三角形 142">
                  <a:extLst>
                    <a:ext uri="{FF2B5EF4-FFF2-40B4-BE49-F238E27FC236}">
                      <a16:creationId xmlns:a16="http://schemas.microsoft.com/office/drawing/2014/main" id="{0E97D887-3B5C-64E2-DBC1-9BE87A038641}"/>
                    </a:ext>
                  </a:extLst>
                </p:cNvPr>
                <p:cNvSpPr/>
                <p:nvPr/>
              </p:nvSpPr>
              <p:spPr>
                <a:xfrm flipH="1" flipV="1">
                  <a:off x="626692" y="1413769"/>
                  <a:ext cx="138933" cy="64709"/>
                </a:xfrm>
                <a:prstGeom prst="rtTriangle">
                  <a:avLst/>
                </a:prstGeom>
                <a:solidFill>
                  <a:srgbClr val="38505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3BC1A2A5-19BD-1E19-2959-C2F7991329FC}"/>
                </a:ext>
              </a:extLst>
            </p:cNvPr>
            <p:cNvSpPr txBox="1"/>
            <p:nvPr/>
          </p:nvSpPr>
          <p:spPr>
            <a:xfrm>
              <a:off x="648826" y="4906192"/>
              <a:ext cx="96214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</a:rPr>
                <a:t>项目经历</a:t>
              </a:r>
            </a:p>
          </p:txBody>
        </p:sp>
      </p:grpSp>
      <p:sp>
        <p:nvSpPr>
          <p:cNvPr id="1024" name="文本框 1023">
            <a:extLst>
              <a:ext uri="{FF2B5EF4-FFF2-40B4-BE49-F238E27FC236}">
                <a16:creationId xmlns:a16="http://schemas.microsoft.com/office/drawing/2014/main" id="{EC139732-7BA3-CDE7-89FE-C72DDE784748}"/>
              </a:ext>
            </a:extLst>
          </p:cNvPr>
          <p:cNvSpPr txBox="1"/>
          <p:nvPr/>
        </p:nvSpPr>
        <p:spPr>
          <a:xfrm>
            <a:off x="578486" y="8739722"/>
            <a:ext cx="6548889" cy="687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zh-CN" sz="1100" dirty="0">
              <a:effectLst/>
            </a:endParaRPr>
          </a:p>
          <a:p>
            <a:pPr>
              <a:lnSpc>
                <a:spcPts val="1015"/>
              </a:lnSpc>
            </a:pPr>
            <a:br>
              <a:rPr lang="en-US" altLang="zh-CN" sz="1100" dirty="0"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2022.03 </a:t>
            </a:r>
            <a:r>
              <a:rPr lang="zh-CN" altLang="en-US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至今    西安电子科技大学浪潮俱乐部   技术部</a:t>
            </a:r>
            <a:r>
              <a:rPr lang="en-US" altLang="zh-CN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AI</a:t>
            </a:r>
            <a:r>
              <a:rPr lang="zh-CN" altLang="en-US" sz="1100" b="1" dirty="0">
                <a:solidFill>
                  <a:srgbClr val="000000"/>
                </a:solidFill>
                <a:effectLst/>
                <a:latin typeface="Cambria" panose="020405030504060302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组组长</a:t>
            </a:r>
            <a:endParaRPr lang="zh-CN" altLang="zh-CN" sz="1100" dirty="0">
              <a:effectLst/>
              <a:latin typeface="Cambria" panose="020405030504060302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100" b="1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1026" name="文本框 1025">
            <a:extLst>
              <a:ext uri="{FF2B5EF4-FFF2-40B4-BE49-F238E27FC236}">
                <a16:creationId xmlns:a16="http://schemas.microsoft.com/office/drawing/2014/main" id="{FE174F4F-2166-BD0A-D20C-68EF96534F1B}"/>
              </a:ext>
            </a:extLst>
          </p:cNvPr>
          <p:cNvSpPr txBox="1"/>
          <p:nvPr/>
        </p:nvSpPr>
        <p:spPr>
          <a:xfrm>
            <a:off x="302298" y="8053684"/>
            <a:ext cx="63296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zh-CN" sz="1100" b="1" dirty="0">
              <a:solidFill>
                <a:srgbClr val="575757"/>
              </a:solidFill>
              <a:latin typeface="Timess New Roman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A682BE5-39B2-4467-9E9B-45998819BF3C}"/>
              </a:ext>
            </a:extLst>
          </p:cNvPr>
          <p:cNvSpPr txBox="1"/>
          <p:nvPr/>
        </p:nvSpPr>
        <p:spPr>
          <a:xfrm>
            <a:off x="1427882" y="1111168"/>
            <a:ext cx="27316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 b="1" kern="2700" dirty="0">
                <a:cs typeface="Calibri" panose="020F0502020204030204" pitchFamily="34" charset="0"/>
              </a:rPr>
              <a:t>学         校</a:t>
            </a:r>
            <a:r>
              <a:rPr lang="en-US" altLang="zh-CN" sz="1050" dirty="0">
                <a:cs typeface="Calibri" panose="020F0502020204030204" pitchFamily="34" charset="0"/>
              </a:rPr>
              <a:t>: </a:t>
            </a:r>
            <a:r>
              <a:rPr lang="zh-CN" altLang="en-US" sz="1050" dirty="0">
                <a:cs typeface="Calibri" panose="020F0502020204030204" pitchFamily="34" charset="0"/>
              </a:rPr>
              <a:t>西安电子科技大学</a:t>
            </a:r>
            <a:endParaRPr lang="en-US" altLang="zh-CN" sz="1050" dirty="0">
              <a:cs typeface="Calibri" panose="020F0502020204030204" pitchFamily="34" charset="0"/>
            </a:endParaRPr>
          </a:p>
          <a:p>
            <a:r>
              <a:rPr lang="zh-CN" altLang="en-US" sz="1050" b="1" dirty="0">
                <a:cs typeface="Calibri" panose="020F0502020204030204" pitchFamily="34" charset="0"/>
              </a:rPr>
              <a:t>联系方式</a:t>
            </a:r>
            <a:r>
              <a:rPr lang="en-US" altLang="zh-CN" sz="1050" dirty="0">
                <a:cs typeface="Calibri" panose="020F0502020204030204" pitchFamily="34" charset="0"/>
              </a:rPr>
              <a:t>: 18007350482</a:t>
            </a:r>
          </a:p>
          <a:p>
            <a:r>
              <a:rPr lang="zh-CN" altLang="en-US" sz="1050" b="1" dirty="0">
                <a:cs typeface="Calibri" panose="020F0502020204030204" pitchFamily="34" charset="0"/>
              </a:rPr>
              <a:t>邮         箱</a:t>
            </a:r>
            <a:r>
              <a:rPr lang="en-US" altLang="zh-CN" sz="1050" dirty="0">
                <a:cs typeface="Calibri" panose="020F0502020204030204" pitchFamily="34" charset="0"/>
              </a:rPr>
              <a:t>: ykzhou@stu.xidian.edu.cn</a:t>
            </a:r>
          </a:p>
          <a:p>
            <a:r>
              <a:rPr lang="en-US" altLang="zh-CN" sz="1050" b="1" kern="1500" spc="220" dirty="0" err="1">
                <a:cs typeface="Calibri" panose="020F0502020204030204" pitchFamily="34" charset="0"/>
              </a:rPr>
              <a:t>GitHub</a:t>
            </a:r>
            <a:r>
              <a:rPr lang="en-US" altLang="zh-CN" sz="1050" kern="1500" spc="220" dirty="0" err="1">
                <a:cs typeface="Calibri" panose="020F0502020204030204" pitchFamily="34" charset="0"/>
              </a:rPr>
              <a:t>:</a:t>
            </a:r>
            <a:r>
              <a:rPr lang="en-US" altLang="zh-CN" sz="1050" kern="1500" spc="100" dirty="0" err="1">
                <a:cs typeface="Calibri" panose="020F0502020204030204" pitchFamily="34" charset="0"/>
              </a:rPr>
              <a:t>https</a:t>
            </a:r>
            <a:r>
              <a:rPr lang="en-US" altLang="zh-CN" sz="1050" kern="1500" spc="100" dirty="0">
                <a:cs typeface="Calibri" panose="020F0502020204030204" pitchFamily="34" charset="0"/>
              </a:rPr>
              <a:t>://github.com/1zeryu</a:t>
            </a:r>
            <a:endParaRPr lang="zh-CN" altLang="en-US" sz="1050" spc="100" dirty="0"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E9C89E8-3D44-43C1-A477-4E3876627A8E}"/>
              </a:ext>
            </a:extLst>
          </p:cNvPr>
          <p:cNvSpPr txBox="1"/>
          <p:nvPr/>
        </p:nvSpPr>
        <p:spPr>
          <a:xfrm>
            <a:off x="3863340" y="1114688"/>
            <a:ext cx="1874259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50" b="1" dirty="0"/>
              <a:t>出生年月</a:t>
            </a:r>
            <a:r>
              <a:rPr lang="en-US" altLang="zh-CN" sz="1050" dirty="0"/>
              <a:t>: 2003.11.02</a:t>
            </a:r>
          </a:p>
          <a:p>
            <a:r>
              <a:rPr lang="zh-CN" altLang="en-US" sz="1050" b="1" dirty="0"/>
              <a:t>专         业</a:t>
            </a:r>
            <a:r>
              <a:rPr lang="en-US" altLang="zh-CN" sz="1050" dirty="0"/>
              <a:t>:</a:t>
            </a:r>
            <a:r>
              <a:rPr lang="zh-CN" altLang="en-US" sz="1050" dirty="0"/>
              <a:t> 计算机科学与技术</a:t>
            </a:r>
            <a:endParaRPr lang="en-US" altLang="zh-CN" sz="1050" dirty="0"/>
          </a:p>
          <a:p>
            <a:r>
              <a:rPr lang="zh-CN" altLang="en-US" sz="1050" b="1" dirty="0"/>
              <a:t>籍         贯</a:t>
            </a:r>
            <a:r>
              <a:rPr lang="en-US" altLang="zh-CN" sz="1050" dirty="0"/>
              <a:t>:</a:t>
            </a:r>
            <a:r>
              <a:rPr lang="zh-CN" altLang="en-US" sz="1050" dirty="0"/>
              <a:t> 湖南郴州</a:t>
            </a:r>
            <a:endParaRPr lang="en-US" altLang="zh-CN" sz="105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36650E-ECCB-4712-A1F7-E70CF70123D0}"/>
              </a:ext>
            </a:extLst>
          </p:cNvPr>
          <p:cNvSpPr txBox="1"/>
          <p:nvPr/>
        </p:nvSpPr>
        <p:spPr>
          <a:xfrm>
            <a:off x="688608" y="2460342"/>
            <a:ext cx="1837776" cy="807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大类成绩：专业成绩前</a:t>
            </a:r>
            <a:r>
              <a:rPr lang="en-US" altLang="zh-CN" sz="900" dirty="0"/>
              <a:t>5%</a:t>
            </a:r>
          </a:p>
          <a:p>
            <a:r>
              <a:rPr lang="zh-CN" altLang="en-US" sz="900" dirty="0"/>
              <a:t>四级成绩：</a:t>
            </a:r>
            <a:r>
              <a:rPr lang="en-US" altLang="zh-CN" sz="900" dirty="0"/>
              <a:t>543</a:t>
            </a:r>
          </a:p>
          <a:p>
            <a:r>
              <a:rPr lang="zh-CN" altLang="en-US" sz="900" dirty="0"/>
              <a:t>大类均分：</a:t>
            </a:r>
            <a:r>
              <a:rPr lang="en-US" altLang="zh-CN" sz="900" dirty="0"/>
              <a:t>89.6</a:t>
            </a:r>
          </a:p>
          <a:p>
            <a:r>
              <a:rPr lang="en-US" altLang="zh-CN" sz="900" dirty="0"/>
              <a:t>GPA: 3.80/4.00</a:t>
            </a:r>
          </a:p>
          <a:p>
            <a:endParaRPr lang="zh-CN" altLang="en-US" sz="105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8CFD3BA-093A-42D1-9B12-C3D365C4A9C9}"/>
              </a:ext>
            </a:extLst>
          </p:cNvPr>
          <p:cNvSpPr txBox="1"/>
          <p:nvPr/>
        </p:nvSpPr>
        <p:spPr>
          <a:xfrm>
            <a:off x="2526222" y="2460341"/>
            <a:ext cx="213925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程序设计基础课程设计</a:t>
            </a:r>
            <a:r>
              <a:rPr lang="en-US" altLang="zh-CN" sz="900" dirty="0"/>
              <a:t>: 97</a:t>
            </a:r>
          </a:p>
          <a:p>
            <a:r>
              <a:rPr lang="zh-CN" altLang="en-US" sz="900" dirty="0"/>
              <a:t>高等数学</a:t>
            </a:r>
            <a:r>
              <a:rPr lang="en-US" altLang="zh-CN" sz="900" dirty="0"/>
              <a:t>: 94</a:t>
            </a:r>
          </a:p>
          <a:p>
            <a:r>
              <a:rPr lang="zh-CN" altLang="en-US" sz="900" dirty="0"/>
              <a:t>离散数学（</a:t>
            </a:r>
            <a:r>
              <a:rPr lang="en-US" altLang="zh-CN" sz="900" dirty="0"/>
              <a:t>Ⅰ</a:t>
            </a:r>
            <a:r>
              <a:rPr lang="zh-CN" altLang="en-US" sz="900" dirty="0"/>
              <a:t>）</a:t>
            </a:r>
            <a:r>
              <a:rPr lang="en-US" altLang="zh-CN" sz="900" dirty="0"/>
              <a:t>: 95</a:t>
            </a:r>
          </a:p>
          <a:p>
            <a:r>
              <a:rPr lang="zh-CN" altLang="en-US" sz="900" dirty="0"/>
              <a:t>计算机导论与程序设计</a:t>
            </a:r>
            <a:r>
              <a:rPr lang="en-US" altLang="zh-CN" sz="900" dirty="0"/>
              <a:t>: 100</a:t>
            </a:r>
          </a:p>
          <a:p>
            <a:endParaRPr lang="en-US" altLang="zh-CN" sz="9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4C93B3FD-1B8D-4091-B8FC-2F85ED23B6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9818028"/>
            <a:ext cx="6858000" cy="146304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D12E2049-6B15-7273-83CA-51954F72CB4F}"/>
              </a:ext>
            </a:extLst>
          </p:cNvPr>
          <p:cNvSpPr txBox="1"/>
          <p:nvPr/>
        </p:nvSpPr>
        <p:spPr>
          <a:xfrm>
            <a:off x="4236908" y="2459483"/>
            <a:ext cx="1828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dirty="0"/>
              <a:t>科研方法论</a:t>
            </a:r>
            <a:r>
              <a:rPr lang="en-US" altLang="zh-CN" sz="900" dirty="0"/>
              <a:t>: 95</a:t>
            </a:r>
            <a:endParaRPr lang="zh-CN" altLang="en-US" sz="900" dirty="0"/>
          </a:p>
          <a:p>
            <a:endParaRPr lang="zh-CN" altLang="en-US" sz="900" dirty="0"/>
          </a:p>
        </p:txBody>
      </p:sp>
    </p:spTree>
    <p:extLst>
      <p:ext uri="{BB962C8B-B14F-4D97-AF65-F5344CB8AC3E}">
        <p14:creationId xmlns:p14="http://schemas.microsoft.com/office/powerpoint/2010/main" val="2850726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917</TotalTime>
  <Words>114</Words>
  <Application>Microsoft Office PowerPoint</Application>
  <PresentationFormat>A4 纸张(210x297 毫米)</PresentationFormat>
  <Paragraphs>25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Timess New Roman</vt:lpstr>
      <vt:lpstr>等线</vt:lpstr>
      <vt:lpstr>华文新魏</vt:lpstr>
      <vt:lpstr>Arial</vt:lpstr>
      <vt:lpstr>Calibri</vt:lpstr>
      <vt:lpstr>Calibri Light</vt:lpstr>
      <vt:lpstr>Cambria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徐 宇轲</dc:creator>
  <cp:lastModifiedBy>Yu-Kun-Zhou@outlook.com</cp:lastModifiedBy>
  <cp:revision>21</cp:revision>
  <dcterms:created xsi:type="dcterms:W3CDTF">2022-05-14T11:47:55Z</dcterms:created>
  <dcterms:modified xsi:type="dcterms:W3CDTF">2022-08-08T01:42:42Z</dcterms:modified>
</cp:coreProperties>
</file>