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636"/>
    <a:srgbClr val="575757"/>
    <a:srgbClr val="FFFFFF"/>
    <a:srgbClr val="4E7082"/>
    <a:srgbClr val="385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444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E7DB68-C3DE-4005-A345-EC79EE75BF95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7AEB08-D1C9-49BA-82FC-57209F511F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178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AEB08-D1C9-49BA-82FC-57209F511F0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042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0448-4F8B-4562-AA03-CE48F3C559E5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9A64-36D4-4155-8825-572291C86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13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0448-4F8B-4562-AA03-CE48F3C559E5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9A64-36D4-4155-8825-572291C86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82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0448-4F8B-4562-AA03-CE48F3C559E5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9A64-36D4-4155-8825-572291C86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41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0448-4F8B-4562-AA03-CE48F3C559E5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9A64-36D4-4155-8825-572291C86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0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0448-4F8B-4562-AA03-CE48F3C559E5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9A64-36D4-4155-8825-572291C86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61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0448-4F8B-4562-AA03-CE48F3C559E5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9A64-36D4-4155-8825-572291C86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602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0448-4F8B-4562-AA03-CE48F3C559E5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9A64-36D4-4155-8825-572291C86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20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0448-4F8B-4562-AA03-CE48F3C559E5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9A64-36D4-4155-8825-572291C86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75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0448-4F8B-4562-AA03-CE48F3C559E5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9A64-36D4-4155-8825-572291C86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3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0448-4F8B-4562-AA03-CE48F3C559E5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9A64-36D4-4155-8825-572291C86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889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0448-4F8B-4562-AA03-CE48F3C559E5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9A64-36D4-4155-8825-572291C86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884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80448-4F8B-4562-AA03-CE48F3C559E5}" type="datetimeFigureOut">
              <a:rPr lang="zh-CN" altLang="en-US" smtClean="0"/>
              <a:t>2022/5/24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89A64-36D4-4155-8825-572291C867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079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hyperlink" Target="https://www.cnblogs.com/ykzhou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hyperlink" Target="https://github.com/1zery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hyperlink" Target="mailto:ykzhou@stu.xidian.edu.cn" TargetMode="External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0CE139C0-1DEA-6B18-EF01-E9CF526DAA59}"/>
              </a:ext>
            </a:extLst>
          </p:cNvPr>
          <p:cNvGrpSpPr/>
          <p:nvPr/>
        </p:nvGrpSpPr>
        <p:grpSpPr>
          <a:xfrm>
            <a:off x="0" y="250146"/>
            <a:ext cx="6858000" cy="144000"/>
            <a:chOff x="0" y="1"/>
            <a:chExt cx="6858000" cy="196849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CDE8D5F4-E4FA-9470-3863-F01D95971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" y="1"/>
              <a:ext cx="6233160" cy="196849"/>
            </a:xfrm>
            <a:prstGeom prst="rect">
              <a:avLst/>
            </a:prstGeom>
            <a:solidFill>
              <a:srgbClr val="2346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6A8763DB-112B-9303-89D0-1E703BC0A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"/>
              <a:ext cx="425450" cy="196849"/>
            </a:xfrm>
            <a:prstGeom prst="rect">
              <a:avLst/>
            </a:prstGeom>
            <a:solidFill>
              <a:srgbClr val="2346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17E20DA-D76A-A0B8-6056-BE2E0A1EA14D}"/>
              </a:ext>
            </a:extLst>
          </p:cNvPr>
          <p:cNvGrpSpPr/>
          <p:nvPr/>
        </p:nvGrpSpPr>
        <p:grpSpPr>
          <a:xfrm>
            <a:off x="268255" y="531524"/>
            <a:ext cx="5202662" cy="384760"/>
            <a:chOff x="206339" y="1093718"/>
            <a:chExt cx="5202662" cy="384760"/>
          </a:xfrm>
        </p:grpSpPr>
        <p:pic>
          <p:nvPicPr>
            <p:cNvPr id="6" name="image1.png">
              <a:extLst>
                <a:ext uri="{FF2B5EF4-FFF2-40B4-BE49-F238E27FC236}">
                  <a16:creationId xmlns:a16="http://schemas.microsoft.com/office/drawing/2014/main" id="{0DAE8548-97F6-AE77-EBC3-79EA80050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339" y="1093718"/>
              <a:ext cx="360680" cy="360045"/>
            </a:xfrm>
            <a:prstGeom prst="rect">
              <a:avLst/>
            </a:prstGeom>
          </p:spPr>
        </p:pic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0F26A521-3EE3-1677-D310-F66A598941A7}"/>
                </a:ext>
              </a:extLst>
            </p:cNvPr>
            <p:cNvGrpSpPr/>
            <p:nvPr/>
          </p:nvGrpSpPr>
          <p:grpSpPr>
            <a:xfrm>
              <a:off x="624840" y="1130815"/>
              <a:ext cx="4784161" cy="347663"/>
              <a:chOff x="624840" y="1130815"/>
              <a:chExt cx="4784161" cy="347663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EC970B9B-1434-5833-57E2-C085E92C05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001" y="1405797"/>
                <a:ext cx="4680000" cy="0"/>
              </a:xfrm>
              <a:prstGeom prst="line">
                <a:avLst/>
              </a:prstGeom>
              <a:ln w="19050">
                <a:solidFill>
                  <a:srgbClr val="4E70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64AA2431-9243-6CEC-42C0-7C3E40948959}"/>
                  </a:ext>
                </a:extLst>
              </p:cNvPr>
              <p:cNvGrpSpPr/>
              <p:nvPr/>
            </p:nvGrpSpPr>
            <p:grpSpPr>
              <a:xfrm>
                <a:off x="624840" y="1130815"/>
                <a:ext cx="1150438" cy="347663"/>
                <a:chOff x="624840" y="1130815"/>
                <a:chExt cx="1150438" cy="347663"/>
              </a:xfrm>
            </p:grpSpPr>
            <p:grpSp>
              <p:nvGrpSpPr>
                <p:cNvPr id="13" name="组合 12">
                  <a:extLst>
                    <a:ext uri="{FF2B5EF4-FFF2-40B4-BE49-F238E27FC236}">
                      <a16:creationId xmlns:a16="http://schemas.microsoft.com/office/drawing/2014/main" id="{FFA635B5-74F5-E883-8395-49CEC10B25FB}"/>
                    </a:ext>
                  </a:extLst>
                </p:cNvPr>
                <p:cNvGrpSpPr/>
                <p:nvPr/>
              </p:nvGrpSpPr>
              <p:grpSpPr>
                <a:xfrm>
                  <a:off x="624840" y="1130816"/>
                  <a:ext cx="962315" cy="282956"/>
                  <a:chOff x="752185" y="1281112"/>
                  <a:chExt cx="1652878" cy="871538"/>
                </a:xfrm>
              </p:grpSpPr>
              <p:sp>
                <p:nvSpPr>
                  <p:cNvPr id="11" name="梯形 10">
                    <a:extLst>
                      <a:ext uri="{FF2B5EF4-FFF2-40B4-BE49-F238E27FC236}">
                        <a16:creationId xmlns:a16="http://schemas.microsoft.com/office/drawing/2014/main" id="{15F43C1E-BBD4-3E04-3272-5ED05A8B5139}"/>
                      </a:ext>
                    </a:extLst>
                  </p:cNvPr>
                  <p:cNvSpPr/>
                  <p:nvPr/>
                </p:nvSpPr>
                <p:spPr>
                  <a:xfrm>
                    <a:off x="752475" y="1281113"/>
                    <a:ext cx="1652588" cy="871537"/>
                  </a:xfrm>
                  <a:prstGeom prst="trapezoid">
                    <a:avLst>
                      <a:gd name="adj" fmla="val 45110"/>
                    </a:avLst>
                  </a:prstGeom>
                  <a:solidFill>
                    <a:srgbClr val="4E708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" name="矩形 11">
                    <a:extLst>
                      <a:ext uri="{FF2B5EF4-FFF2-40B4-BE49-F238E27FC236}">
                        <a16:creationId xmlns:a16="http://schemas.microsoft.com/office/drawing/2014/main" id="{5DDAD627-BD16-20FA-1E94-B449AA27B680}"/>
                      </a:ext>
                    </a:extLst>
                  </p:cNvPr>
                  <p:cNvSpPr/>
                  <p:nvPr/>
                </p:nvSpPr>
                <p:spPr>
                  <a:xfrm>
                    <a:off x="752185" y="1281112"/>
                    <a:ext cx="357813" cy="871537"/>
                  </a:xfrm>
                  <a:prstGeom prst="rect">
                    <a:avLst/>
                  </a:prstGeom>
                  <a:solidFill>
                    <a:srgbClr val="4E708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5" name="平行四边形 14">
                  <a:extLst>
                    <a:ext uri="{FF2B5EF4-FFF2-40B4-BE49-F238E27FC236}">
                      <a16:creationId xmlns:a16="http://schemas.microsoft.com/office/drawing/2014/main" id="{37FE26AF-5AA2-C881-82AE-4709E63848BF}"/>
                    </a:ext>
                  </a:extLst>
                </p:cNvPr>
                <p:cNvSpPr/>
                <p:nvPr/>
              </p:nvSpPr>
              <p:spPr>
                <a:xfrm flipH="1">
                  <a:off x="1487143" y="1130816"/>
                  <a:ext cx="176213" cy="282955"/>
                </a:xfrm>
                <a:prstGeom prst="parallelogram">
                  <a:avLst>
                    <a:gd name="adj" fmla="val 70590"/>
                  </a:avLst>
                </a:prstGeom>
                <a:solidFill>
                  <a:srgbClr val="4E70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平行四边形 15">
                  <a:extLst>
                    <a:ext uri="{FF2B5EF4-FFF2-40B4-BE49-F238E27FC236}">
                      <a16:creationId xmlns:a16="http://schemas.microsoft.com/office/drawing/2014/main" id="{5FAEEC8B-66C7-6A51-0B58-8FF6AC68BE48}"/>
                    </a:ext>
                  </a:extLst>
                </p:cNvPr>
                <p:cNvSpPr/>
                <p:nvPr/>
              </p:nvSpPr>
              <p:spPr>
                <a:xfrm flipH="1">
                  <a:off x="1549056" y="1130815"/>
                  <a:ext cx="226222" cy="282955"/>
                </a:xfrm>
                <a:prstGeom prst="parallelogram">
                  <a:avLst>
                    <a:gd name="adj" fmla="val 54908"/>
                  </a:avLst>
                </a:prstGeom>
                <a:solidFill>
                  <a:srgbClr val="4E70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直角三角形 20">
                  <a:extLst>
                    <a:ext uri="{FF2B5EF4-FFF2-40B4-BE49-F238E27FC236}">
                      <a16:creationId xmlns:a16="http://schemas.microsoft.com/office/drawing/2014/main" id="{26C8BC6A-C260-819A-E813-A2F115205639}"/>
                    </a:ext>
                  </a:extLst>
                </p:cNvPr>
                <p:cNvSpPr/>
                <p:nvPr/>
              </p:nvSpPr>
              <p:spPr>
                <a:xfrm flipH="1" flipV="1">
                  <a:off x="626692" y="1413769"/>
                  <a:ext cx="138933" cy="64709"/>
                </a:xfrm>
                <a:prstGeom prst="rtTriangle">
                  <a:avLst/>
                </a:prstGeom>
                <a:solidFill>
                  <a:srgbClr val="3850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D692463-B0D7-ACA8-3035-0F6D3DB00E64}"/>
                </a:ext>
              </a:extLst>
            </p:cNvPr>
            <p:cNvSpPr txBox="1"/>
            <p:nvPr/>
          </p:nvSpPr>
          <p:spPr>
            <a:xfrm>
              <a:off x="586910" y="1124206"/>
              <a:ext cx="9621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个人信息</a:t>
              </a:r>
            </a:p>
          </p:txBody>
        </p: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23ADF0DD-771C-E043-B3B3-8834DD3FAB94}"/>
              </a:ext>
            </a:extLst>
          </p:cNvPr>
          <p:cNvSpPr/>
          <p:nvPr/>
        </p:nvSpPr>
        <p:spPr>
          <a:xfrm>
            <a:off x="5631693" y="891569"/>
            <a:ext cx="962146" cy="1353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D6E65BF-A3FC-B235-1B7F-41C1A26E428C}"/>
              </a:ext>
            </a:extLst>
          </p:cNvPr>
          <p:cNvSpPr txBox="1"/>
          <p:nvPr/>
        </p:nvSpPr>
        <p:spPr>
          <a:xfrm>
            <a:off x="478841" y="1241029"/>
            <a:ext cx="13573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57575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周钰坤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4B24455-ED75-F53D-0EED-C88276328388}"/>
              </a:ext>
            </a:extLst>
          </p:cNvPr>
          <p:cNvSpPr txBox="1"/>
          <p:nvPr/>
        </p:nvSpPr>
        <p:spPr>
          <a:xfrm>
            <a:off x="1724083" y="1037633"/>
            <a:ext cx="2139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100" dirty="0">
              <a:solidFill>
                <a:srgbClr val="575757"/>
              </a:solidFill>
              <a:latin typeface="Timess New Roman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0BEE3E95-43B4-DD3F-9FB6-08032CF3875E}"/>
              </a:ext>
            </a:extLst>
          </p:cNvPr>
          <p:cNvGrpSpPr/>
          <p:nvPr/>
        </p:nvGrpSpPr>
        <p:grpSpPr>
          <a:xfrm>
            <a:off x="264161" y="2064762"/>
            <a:ext cx="6335670" cy="354272"/>
            <a:chOff x="264161" y="2057664"/>
            <a:chExt cx="6335670" cy="354272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7B55D07C-458D-FCED-27B6-116D0CE59BD2}"/>
                </a:ext>
              </a:extLst>
            </p:cNvPr>
            <p:cNvGrpSpPr/>
            <p:nvPr/>
          </p:nvGrpSpPr>
          <p:grpSpPr>
            <a:xfrm>
              <a:off x="686756" y="2064273"/>
              <a:ext cx="5913075" cy="347663"/>
              <a:chOff x="624840" y="1130815"/>
              <a:chExt cx="5913075" cy="347663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9DF5B3E4-F0D8-767B-90A1-CD3C238B26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001" y="1404245"/>
                <a:ext cx="5808914" cy="3"/>
              </a:xfrm>
              <a:prstGeom prst="line">
                <a:avLst/>
              </a:prstGeom>
              <a:ln w="19050">
                <a:solidFill>
                  <a:srgbClr val="4E70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9E9D607-4DB7-2475-8A49-542910515F7E}"/>
                  </a:ext>
                </a:extLst>
              </p:cNvPr>
              <p:cNvGrpSpPr/>
              <p:nvPr/>
            </p:nvGrpSpPr>
            <p:grpSpPr>
              <a:xfrm>
                <a:off x="624840" y="1130815"/>
                <a:ext cx="1150438" cy="347663"/>
                <a:chOff x="624840" y="1130815"/>
                <a:chExt cx="1150438" cy="347663"/>
              </a:xfrm>
            </p:grpSpPr>
            <p:grpSp>
              <p:nvGrpSpPr>
                <p:cNvPr id="36" name="组合 35">
                  <a:extLst>
                    <a:ext uri="{FF2B5EF4-FFF2-40B4-BE49-F238E27FC236}">
                      <a16:creationId xmlns:a16="http://schemas.microsoft.com/office/drawing/2014/main" id="{1C97A7C7-BA5B-F0D2-5558-E0DC44F9CC34}"/>
                    </a:ext>
                  </a:extLst>
                </p:cNvPr>
                <p:cNvGrpSpPr/>
                <p:nvPr/>
              </p:nvGrpSpPr>
              <p:grpSpPr>
                <a:xfrm>
                  <a:off x="624840" y="1130816"/>
                  <a:ext cx="962315" cy="282956"/>
                  <a:chOff x="752185" y="1281112"/>
                  <a:chExt cx="1652878" cy="871538"/>
                </a:xfrm>
              </p:grpSpPr>
              <p:sp>
                <p:nvSpPr>
                  <p:cNvPr id="40" name="梯形 39">
                    <a:extLst>
                      <a:ext uri="{FF2B5EF4-FFF2-40B4-BE49-F238E27FC236}">
                        <a16:creationId xmlns:a16="http://schemas.microsoft.com/office/drawing/2014/main" id="{5F210DDD-CA02-9BA9-A6EB-44FAFC72EE50}"/>
                      </a:ext>
                    </a:extLst>
                  </p:cNvPr>
                  <p:cNvSpPr/>
                  <p:nvPr/>
                </p:nvSpPr>
                <p:spPr>
                  <a:xfrm>
                    <a:off x="752475" y="1281113"/>
                    <a:ext cx="1652588" cy="871537"/>
                  </a:xfrm>
                  <a:prstGeom prst="trapezoid">
                    <a:avLst>
                      <a:gd name="adj" fmla="val 45110"/>
                    </a:avLst>
                  </a:prstGeom>
                  <a:solidFill>
                    <a:srgbClr val="4E708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41" name="矩形 40">
                    <a:extLst>
                      <a:ext uri="{FF2B5EF4-FFF2-40B4-BE49-F238E27FC236}">
                        <a16:creationId xmlns:a16="http://schemas.microsoft.com/office/drawing/2014/main" id="{33A9584E-79B7-4A49-B190-84016ECE8DBF}"/>
                      </a:ext>
                    </a:extLst>
                  </p:cNvPr>
                  <p:cNvSpPr/>
                  <p:nvPr/>
                </p:nvSpPr>
                <p:spPr>
                  <a:xfrm>
                    <a:off x="752185" y="1281112"/>
                    <a:ext cx="357813" cy="871537"/>
                  </a:xfrm>
                  <a:prstGeom prst="rect">
                    <a:avLst/>
                  </a:prstGeom>
                  <a:solidFill>
                    <a:srgbClr val="4E708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37" name="平行四边形 36">
                  <a:extLst>
                    <a:ext uri="{FF2B5EF4-FFF2-40B4-BE49-F238E27FC236}">
                      <a16:creationId xmlns:a16="http://schemas.microsoft.com/office/drawing/2014/main" id="{F72124E8-FBA5-F36B-8679-DA244CD273F3}"/>
                    </a:ext>
                  </a:extLst>
                </p:cNvPr>
                <p:cNvSpPr/>
                <p:nvPr/>
              </p:nvSpPr>
              <p:spPr>
                <a:xfrm flipH="1">
                  <a:off x="1487143" y="1130816"/>
                  <a:ext cx="176213" cy="282955"/>
                </a:xfrm>
                <a:prstGeom prst="parallelogram">
                  <a:avLst>
                    <a:gd name="adj" fmla="val 70590"/>
                  </a:avLst>
                </a:prstGeom>
                <a:solidFill>
                  <a:srgbClr val="4E70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平行四边形 37">
                  <a:extLst>
                    <a:ext uri="{FF2B5EF4-FFF2-40B4-BE49-F238E27FC236}">
                      <a16:creationId xmlns:a16="http://schemas.microsoft.com/office/drawing/2014/main" id="{AD1504BD-39CB-3EA9-B99B-26F7C557C818}"/>
                    </a:ext>
                  </a:extLst>
                </p:cNvPr>
                <p:cNvSpPr/>
                <p:nvPr/>
              </p:nvSpPr>
              <p:spPr>
                <a:xfrm flipH="1">
                  <a:off x="1549056" y="1130815"/>
                  <a:ext cx="226222" cy="282955"/>
                </a:xfrm>
                <a:prstGeom prst="parallelogram">
                  <a:avLst>
                    <a:gd name="adj" fmla="val 54557"/>
                  </a:avLst>
                </a:prstGeom>
                <a:solidFill>
                  <a:srgbClr val="4E70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直角三角形 38">
                  <a:extLst>
                    <a:ext uri="{FF2B5EF4-FFF2-40B4-BE49-F238E27FC236}">
                      <a16:creationId xmlns:a16="http://schemas.microsoft.com/office/drawing/2014/main" id="{8B84D9B8-9FBB-1FE6-7380-79ED40457937}"/>
                    </a:ext>
                  </a:extLst>
                </p:cNvPr>
                <p:cNvSpPr/>
                <p:nvPr/>
              </p:nvSpPr>
              <p:spPr>
                <a:xfrm flipH="1" flipV="1">
                  <a:off x="626692" y="1413769"/>
                  <a:ext cx="138933" cy="64709"/>
                </a:xfrm>
                <a:prstGeom prst="rtTriangle">
                  <a:avLst/>
                </a:prstGeom>
                <a:solidFill>
                  <a:srgbClr val="3850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7772BA0-FE57-399D-2E60-3BCA1AA21748}"/>
                </a:ext>
              </a:extLst>
            </p:cNvPr>
            <p:cNvSpPr txBox="1"/>
            <p:nvPr/>
          </p:nvSpPr>
          <p:spPr>
            <a:xfrm>
              <a:off x="648826" y="2057664"/>
              <a:ext cx="9621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成绩排名</a:t>
              </a:r>
            </a:p>
          </p:txBody>
        </p:sp>
        <p:pic>
          <p:nvPicPr>
            <p:cNvPr id="1035" name="Picture 11">
              <a:extLst>
                <a:ext uri="{FF2B5EF4-FFF2-40B4-BE49-F238E27FC236}">
                  <a16:creationId xmlns:a16="http://schemas.microsoft.com/office/drawing/2014/main" id="{E4C36E66-3259-2FB8-8BC5-6942065BE3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161" y="2058103"/>
              <a:ext cx="360680" cy="273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ACDE2DF8-E4DB-6E64-B1D3-13576DA580E2}"/>
              </a:ext>
            </a:extLst>
          </p:cNvPr>
          <p:cNvSpPr txBox="1"/>
          <p:nvPr/>
        </p:nvSpPr>
        <p:spPr>
          <a:xfrm>
            <a:off x="3677888" y="1037633"/>
            <a:ext cx="2139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100" dirty="0">
              <a:solidFill>
                <a:srgbClr val="575757"/>
              </a:solidFill>
              <a:latin typeface="Timess New Roman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B1265A5-B252-3DC2-EAA6-63E165D97326}"/>
              </a:ext>
            </a:extLst>
          </p:cNvPr>
          <p:cNvSpPr txBox="1"/>
          <p:nvPr/>
        </p:nvSpPr>
        <p:spPr>
          <a:xfrm>
            <a:off x="686757" y="2397591"/>
            <a:ext cx="21392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solidFill>
                  <a:srgbClr val="575757"/>
                </a:solidFill>
                <a:latin typeface="Timess New Roman"/>
              </a:defRPr>
            </a:lvl1pPr>
          </a:lstStyle>
          <a:p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2EC4802-36D7-7CE0-C7C7-D3518B8BF346}"/>
              </a:ext>
            </a:extLst>
          </p:cNvPr>
          <p:cNvSpPr txBox="1"/>
          <p:nvPr/>
        </p:nvSpPr>
        <p:spPr>
          <a:xfrm>
            <a:off x="585722" y="3189755"/>
            <a:ext cx="36205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100" b="1" dirty="0">
              <a:solidFill>
                <a:srgbClr val="575757"/>
              </a:solidFill>
              <a:latin typeface="Timess New Roman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ED7FA13A-00B8-575B-7396-C2E8375DBA15}"/>
              </a:ext>
            </a:extLst>
          </p:cNvPr>
          <p:cNvGrpSpPr/>
          <p:nvPr/>
        </p:nvGrpSpPr>
        <p:grpSpPr>
          <a:xfrm>
            <a:off x="299863" y="3006337"/>
            <a:ext cx="6293976" cy="354272"/>
            <a:chOff x="305855" y="4091574"/>
            <a:chExt cx="6293976" cy="354272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6B5B4078-78A2-9D3C-0BBD-4E81BEE7CF4A}"/>
                </a:ext>
              </a:extLst>
            </p:cNvPr>
            <p:cNvGrpSpPr/>
            <p:nvPr/>
          </p:nvGrpSpPr>
          <p:grpSpPr>
            <a:xfrm>
              <a:off x="686756" y="4098183"/>
              <a:ext cx="5913075" cy="347663"/>
              <a:chOff x="624840" y="1130815"/>
              <a:chExt cx="5913075" cy="347663"/>
            </a:xfrm>
          </p:grpSpPr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D51CBD66-1EDA-853B-FB3A-A947E1130C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001" y="1404245"/>
                <a:ext cx="5808914" cy="3"/>
              </a:xfrm>
              <a:prstGeom prst="line">
                <a:avLst/>
              </a:prstGeom>
              <a:ln w="19050">
                <a:solidFill>
                  <a:srgbClr val="4E70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5" name="组合 94">
                <a:extLst>
                  <a:ext uri="{FF2B5EF4-FFF2-40B4-BE49-F238E27FC236}">
                    <a16:creationId xmlns:a16="http://schemas.microsoft.com/office/drawing/2014/main" id="{5CAAA89C-B286-9B9D-CB0C-DCABF017D2A4}"/>
                  </a:ext>
                </a:extLst>
              </p:cNvPr>
              <p:cNvGrpSpPr/>
              <p:nvPr/>
            </p:nvGrpSpPr>
            <p:grpSpPr>
              <a:xfrm>
                <a:off x="624840" y="1130815"/>
                <a:ext cx="1150438" cy="347663"/>
                <a:chOff x="624840" y="1130815"/>
                <a:chExt cx="1150438" cy="347663"/>
              </a:xfrm>
            </p:grpSpPr>
            <p:grpSp>
              <p:nvGrpSpPr>
                <p:cNvPr id="96" name="组合 95">
                  <a:extLst>
                    <a:ext uri="{FF2B5EF4-FFF2-40B4-BE49-F238E27FC236}">
                      <a16:creationId xmlns:a16="http://schemas.microsoft.com/office/drawing/2014/main" id="{42CADAC5-6FE7-AFBB-2EA4-A44ED77FA592}"/>
                    </a:ext>
                  </a:extLst>
                </p:cNvPr>
                <p:cNvGrpSpPr/>
                <p:nvPr/>
              </p:nvGrpSpPr>
              <p:grpSpPr>
                <a:xfrm>
                  <a:off x="624840" y="1130816"/>
                  <a:ext cx="962315" cy="282956"/>
                  <a:chOff x="752185" y="1281112"/>
                  <a:chExt cx="1652878" cy="871538"/>
                </a:xfrm>
              </p:grpSpPr>
              <p:sp>
                <p:nvSpPr>
                  <p:cNvPr id="100" name="梯形 99">
                    <a:extLst>
                      <a:ext uri="{FF2B5EF4-FFF2-40B4-BE49-F238E27FC236}">
                        <a16:creationId xmlns:a16="http://schemas.microsoft.com/office/drawing/2014/main" id="{E5FBAC1A-EF2C-07F3-22CC-1A06DEBAA818}"/>
                      </a:ext>
                    </a:extLst>
                  </p:cNvPr>
                  <p:cNvSpPr/>
                  <p:nvPr/>
                </p:nvSpPr>
                <p:spPr>
                  <a:xfrm>
                    <a:off x="752475" y="1281113"/>
                    <a:ext cx="1652588" cy="871537"/>
                  </a:xfrm>
                  <a:prstGeom prst="trapezoid">
                    <a:avLst>
                      <a:gd name="adj" fmla="val 45110"/>
                    </a:avLst>
                  </a:prstGeom>
                  <a:solidFill>
                    <a:srgbClr val="4E708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1" name="矩形 100">
                    <a:extLst>
                      <a:ext uri="{FF2B5EF4-FFF2-40B4-BE49-F238E27FC236}">
                        <a16:creationId xmlns:a16="http://schemas.microsoft.com/office/drawing/2014/main" id="{CEA15FEE-407B-0080-EC8B-A615D1A67A5F}"/>
                      </a:ext>
                    </a:extLst>
                  </p:cNvPr>
                  <p:cNvSpPr/>
                  <p:nvPr/>
                </p:nvSpPr>
                <p:spPr>
                  <a:xfrm>
                    <a:off x="752185" y="1281112"/>
                    <a:ext cx="357813" cy="871537"/>
                  </a:xfrm>
                  <a:prstGeom prst="rect">
                    <a:avLst/>
                  </a:prstGeom>
                  <a:solidFill>
                    <a:srgbClr val="4E708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97" name="平行四边形 96">
                  <a:extLst>
                    <a:ext uri="{FF2B5EF4-FFF2-40B4-BE49-F238E27FC236}">
                      <a16:creationId xmlns:a16="http://schemas.microsoft.com/office/drawing/2014/main" id="{1FE5DF0A-7429-5ADA-8EA9-26CA4628962B}"/>
                    </a:ext>
                  </a:extLst>
                </p:cNvPr>
                <p:cNvSpPr/>
                <p:nvPr/>
              </p:nvSpPr>
              <p:spPr>
                <a:xfrm flipH="1">
                  <a:off x="1487143" y="1130816"/>
                  <a:ext cx="176213" cy="282955"/>
                </a:xfrm>
                <a:prstGeom prst="parallelogram">
                  <a:avLst>
                    <a:gd name="adj" fmla="val 70590"/>
                  </a:avLst>
                </a:prstGeom>
                <a:solidFill>
                  <a:srgbClr val="4E70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平行四边形 97">
                  <a:extLst>
                    <a:ext uri="{FF2B5EF4-FFF2-40B4-BE49-F238E27FC236}">
                      <a16:creationId xmlns:a16="http://schemas.microsoft.com/office/drawing/2014/main" id="{6670DECA-0AE3-847C-43BB-21F8525ABAFB}"/>
                    </a:ext>
                  </a:extLst>
                </p:cNvPr>
                <p:cNvSpPr/>
                <p:nvPr/>
              </p:nvSpPr>
              <p:spPr>
                <a:xfrm flipH="1">
                  <a:off x="1549056" y="1130815"/>
                  <a:ext cx="226222" cy="282955"/>
                </a:xfrm>
                <a:prstGeom prst="parallelogram">
                  <a:avLst>
                    <a:gd name="adj" fmla="val 53154"/>
                  </a:avLst>
                </a:prstGeom>
                <a:solidFill>
                  <a:srgbClr val="4E70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9" name="直角三角形 98">
                  <a:extLst>
                    <a:ext uri="{FF2B5EF4-FFF2-40B4-BE49-F238E27FC236}">
                      <a16:creationId xmlns:a16="http://schemas.microsoft.com/office/drawing/2014/main" id="{47B5BBE2-B2D9-D667-6DB1-287B1ECB0843}"/>
                    </a:ext>
                  </a:extLst>
                </p:cNvPr>
                <p:cNvSpPr/>
                <p:nvPr/>
              </p:nvSpPr>
              <p:spPr>
                <a:xfrm flipH="1" flipV="1">
                  <a:off x="626692" y="1413769"/>
                  <a:ext cx="138933" cy="64709"/>
                </a:xfrm>
                <a:prstGeom prst="rtTriangle">
                  <a:avLst/>
                </a:prstGeom>
                <a:solidFill>
                  <a:srgbClr val="3850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023664D4-140C-C1F0-B482-4C451444FA7A}"/>
                </a:ext>
              </a:extLst>
            </p:cNvPr>
            <p:cNvSpPr txBox="1"/>
            <p:nvPr/>
          </p:nvSpPr>
          <p:spPr>
            <a:xfrm>
              <a:off x="648826" y="4091574"/>
              <a:ext cx="9621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技术技能</a:t>
              </a:r>
            </a:p>
          </p:txBody>
        </p:sp>
        <p:pic>
          <p:nvPicPr>
            <p:cNvPr id="89" name="图形 88">
              <a:extLst>
                <a:ext uri="{FF2B5EF4-FFF2-40B4-BE49-F238E27FC236}">
                  <a16:creationId xmlns:a16="http://schemas.microsoft.com/office/drawing/2014/main" id="{97B00402-F0ED-C9A6-B184-A4EA0FA59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5855" y="4118917"/>
              <a:ext cx="284962" cy="284962"/>
            </a:xfrm>
            <a:prstGeom prst="rect">
              <a:avLst/>
            </a:prstGeom>
          </p:spPr>
        </p:pic>
      </p:grpSp>
      <p:pic>
        <p:nvPicPr>
          <p:cNvPr id="1045" name="Picture 21">
            <a:extLst>
              <a:ext uri="{FF2B5EF4-FFF2-40B4-BE49-F238E27FC236}">
                <a16:creationId xmlns:a16="http://schemas.microsoft.com/office/drawing/2014/main" id="{2373BDD7-6D8B-DE2D-6199-A07D6AB4F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670" y="9385784"/>
            <a:ext cx="1268330" cy="379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6777A4C8-33A7-6BC9-7181-F0049AACD430}"/>
              </a:ext>
            </a:extLst>
          </p:cNvPr>
          <p:cNvGrpSpPr/>
          <p:nvPr/>
        </p:nvGrpSpPr>
        <p:grpSpPr>
          <a:xfrm>
            <a:off x="264161" y="8599485"/>
            <a:ext cx="6290721" cy="354272"/>
            <a:chOff x="309110" y="4692962"/>
            <a:chExt cx="6290721" cy="354272"/>
          </a:xfrm>
        </p:grpSpPr>
        <p:pic>
          <p:nvPicPr>
            <p:cNvPr id="1050" name="Picture 26">
              <a:extLst>
                <a:ext uri="{FF2B5EF4-FFF2-40B4-BE49-F238E27FC236}">
                  <a16:creationId xmlns:a16="http://schemas.microsoft.com/office/drawing/2014/main" id="{14CCA1A3-C30A-E3E6-A6DE-BB1F12C82C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110" y="4701673"/>
              <a:ext cx="314325" cy="313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8BD7563F-39DC-03A2-80CB-1AA577F58DF8}"/>
                </a:ext>
              </a:extLst>
            </p:cNvPr>
            <p:cNvGrpSpPr/>
            <p:nvPr/>
          </p:nvGrpSpPr>
          <p:grpSpPr>
            <a:xfrm>
              <a:off x="686756" y="4699571"/>
              <a:ext cx="5913075" cy="347663"/>
              <a:chOff x="624840" y="1130815"/>
              <a:chExt cx="5913075" cy="347663"/>
            </a:xfrm>
          </p:grpSpPr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B11C22DD-F1FB-7519-18E6-63C2735822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001" y="1404245"/>
                <a:ext cx="5808914" cy="3"/>
              </a:xfrm>
              <a:prstGeom prst="line">
                <a:avLst/>
              </a:prstGeom>
              <a:ln w="19050">
                <a:solidFill>
                  <a:srgbClr val="4E70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4" name="组合 123">
                <a:extLst>
                  <a:ext uri="{FF2B5EF4-FFF2-40B4-BE49-F238E27FC236}">
                    <a16:creationId xmlns:a16="http://schemas.microsoft.com/office/drawing/2014/main" id="{168079C4-4281-6917-88E2-B1B5B106FFE9}"/>
                  </a:ext>
                </a:extLst>
              </p:cNvPr>
              <p:cNvGrpSpPr/>
              <p:nvPr/>
            </p:nvGrpSpPr>
            <p:grpSpPr>
              <a:xfrm>
                <a:off x="624840" y="1130815"/>
                <a:ext cx="1150438" cy="347663"/>
                <a:chOff x="624840" y="1130815"/>
                <a:chExt cx="1150438" cy="347663"/>
              </a:xfrm>
            </p:grpSpPr>
            <p:grpSp>
              <p:nvGrpSpPr>
                <p:cNvPr id="125" name="组合 124">
                  <a:extLst>
                    <a:ext uri="{FF2B5EF4-FFF2-40B4-BE49-F238E27FC236}">
                      <a16:creationId xmlns:a16="http://schemas.microsoft.com/office/drawing/2014/main" id="{A6DCE786-D6F8-0959-95BF-C8CBE70149CF}"/>
                    </a:ext>
                  </a:extLst>
                </p:cNvPr>
                <p:cNvGrpSpPr/>
                <p:nvPr/>
              </p:nvGrpSpPr>
              <p:grpSpPr>
                <a:xfrm>
                  <a:off x="624840" y="1130816"/>
                  <a:ext cx="962315" cy="282956"/>
                  <a:chOff x="752185" y="1281112"/>
                  <a:chExt cx="1652878" cy="871538"/>
                </a:xfrm>
              </p:grpSpPr>
              <p:sp>
                <p:nvSpPr>
                  <p:cNvPr id="129" name="梯形 128">
                    <a:extLst>
                      <a:ext uri="{FF2B5EF4-FFF2-40B4-BE49-F238E27FC236}">
                        <a16:creationId xmlns:a16="http://schemas.microsoft.com/office/drawing/2014/main" id="{2F0DD290-643B-DB49-3548-1EC0F11FB027}"/>
                      </a:ext>
                    </a:extLst>
                  </p:cNvPr>
                  <p:cNvSpPr/>
                  <p:nvPr/>
                </p:nvSpPr>
                <p:spPr>
                  <a:xfrm>
                    <a:off x="752475" y="1281113"/>
                    <a:ext cx="1652588" cy="871537"/>
                  </a:xfrm>
                  <a:prstGeom prst="trapezoid">
                    <a:avLst>
                      <a:gd name="adj" fmla="val 45110"/>
                    </a:avLst>
                  </a:prstGeom>
                  <a:solidFill>
                    <a:srgbClr val="4E708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30" name="矩形 129">
                    <a:extLst>
                      <a:ext uri="{FF2B5EF4-FFF2-40B4-BE49-F238E27FC236}">
                        <a16:creationId xmlns:a16="http://schemas.microsoft.com/office/drawing/2014/main" id="{814DE60E-D7F6-AB78-FE11-61A845B6020F}"/>
                      </a:ext>
                    </a:extLst>
                  </p:cNvPr>
                  <p:cNvSpPr/>
                  <p:nvPr/>
                </p:nvSpPr>
                <p:spPr>
                  <a:xfrm>
                    <a:off x="752185" y="1281112"/>
                    <a:ext cx="357813" cy="871537"/>
                  </a:xfrm>
                  <a:prstGeom prst="rect">
                    <a:avLst/>
                  </a:prstGeom>
                  <a:solidFill>
                    <a:srgbClr val="4E708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26" name="平行四边形 125">
                  <a:extLst>
                    <a:ext uri="{FF2B5EF4-FFF2-40B4-BE49-F238E27FC236}">
                      <a16:creationId xmlns:a16="http://schemas.microsoft.com/office/drawing/2014/main" id="{A6D070A9-667F-613D-1BFA-D1D28D5AFE23}"/>
                    </a:ext>
                  </a:extLst>
                </p:cNvPr>
                <p:cNvSpPr/>
                <p:nvPr/>
              </p:nvSpPr>
              <p:spPr>
                <a:xfrm flipH="1">
                  <a:off x="1487143" y="1130816"/>
                  <a:ext cx="176213" cy="282955"/>
                </a:xfrm>
                <a:prstGeom prst="parallelogram">
                  <a:avLst>
                    <a:gd name="adj" fmla="val 70590"/>
                  </a:avLst>
                </a:prstGeom>
                <a:solidFill>
                  <a:srgbClr val="4E70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7" name="平行四边形 126">
                  <a:extLst>
                    <a:ext uri="{FF2B5EF4-FFF2-40B4-BE49-F238E27FC236}">
                      <a16:creationId xmlns:a16="http://schemas.microsoft.com/office/drawing/2014/main" id="{23182FFF-2037-0E76-E0E6-AC5D288FC2F4}"/>
                    </a:ext>
                  </a:extLst>
                </p:cNvPr>
                <p:cNvSpPr/>
                <p:nvPr/>
              </p:nvSpPr>
              <p:spPr>
                <a:xfrm flipH="1">
                  <a:off x="1549056" y="1130815"/>
                  <a:ext cx="226222" cy="282955"/>
                </a:xfrm>
                <a:prstGeom prst="parallelogram">
                  <a:avLst>
                    <a:gd name="adj" fmla="val 54557"/>
                  </a:avLst>
                </a:prstGeom>
                <a:solidFill>
                  <a:srgbClr val="4E70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8" name="直角三角形 127">
                  <a:extLst>
                    <a:ext uri="{FF2B5EF4-FFF2-40B4-BE49-F238E27FC236}">
                      <a16:creationId xmlns:a16="http://schemas.microsoft.com/office/drawing/2014/main" id="{6F330295-9879-2BE1-373F-A5DA5ABAA1E0}"/>
                    </a:ext>
                  </a:extLst>
                </p:cNvPr>
                <p:cNvSpPr/>
                <p:nvPr/>
              </p:nvSpPr>
              <p:spPr>
                <a:xfrm flipH="1" flipV="1">
                  <a:off x="626692" y="1413769"/>
                  <a:ext cx="138933" cy="64709"/>
                </a:xfrm>
                <a:prstGeom prst="rtTriangle">
                  <a:avLst/>
                </a:prstGeom>
                <a:solidFill>
                  <a:srgbClr val="3850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08C3D254-0F07-32E9-536D-D3D6B544DCDC}"/>
                </a:ext>
              </a:extLst>
            </p:cNvPr>
            <p:cNvSpPr txBox="1"/>
            <p:nvPr/>
          </p:nvSpPr>
          <p:spPr>
            <a:xfrm>
              <a:off x="648826" y="4692962"/>
              <a:ext cx="9621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学生工作</a:t>
              </a:r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14F67889-2AC5-8A94-60DA-6734FBD52541}"/>
              </a:ext>
            </a:extLst>
          </p:cNvPr>
          <p:cNvGrpSpPr/>
          <p:nvPr/>
        </p:nvGrpSpPr>
        <p:grpSpPr>
          <a:xfrm>
            <a:off x="314363" y="5457213"/>
            <a:ext cx="6285469" cy="354272"/>
            <a:chOff x="314362" y="4906192"/>
            <a:chExt cx="6285469" cy="354272"/>
          </a:xfrm>
        </p:grpSpPr>
        <p:pic>
          <p:nvPicPr>
            <p:cNvPr id="117" name="图形 116">
              <a:extLst>
                <a:ext uri="{FF2B5EF4-FFF2-40B4-BE49-F238E27FC236}">
                  <a16:creationId xmlns:a16="http://schemas.microsoft.com/office/drawing/2014/main" id="{F88A63C4-7023-4677-ACC0-7E23A2F64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4362" y="4917089"/>
              <a:ext cx="304858" cy="304858"/>
            </a:xfrm>
            <a:prstGeom prst="rect">
              <a:avLst/>
            </a:prstGeom>
          </p:spPr>
        </p:pic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77AED351-D08A-05CA-2EBF-C7FE01DA1416}"/>
                </a:ext>
              </a:extLst>
            </p:cNvPr>
            <p:cNvGrpSpPr/>
            <p:nvPr/>
          </p:nvGrpSpPr>
          <p:grpSpPr>
            <a:xfrm>
              <a:off x="686756" y="4912801"/>
              <a:ext cx="5913075" cy="347663"/>
              <a:chOff x="624840" y="1130815"/>
              <a:chExt cx="5913075" cy="347663"/>
            </a:xfrm>
          </p:grpSpPr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2FA1146B-2F94-1D2B-A417-D27EEEFB92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001" y="1404245"/>
                <a:ext cx="5808914" cy="3"/>
              </a:xfrm>
              <a:prstGeom prst="line">
                <a:avLst/>
              </a:prstGeom>
              <a:ln w="19050">
                <a:solidFill>
                  <a:srgbClr val="4E70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EB987C46-788D-2159-33B4-8158BDAE6F58}"/>
                  </a:ext>
                </a:extLst>
              </p:cNvPr>
              <p:cNvGrpSpPr/>
              <p:nvPr/>
            </p:nvGrpSpPr>
            <p:grpSpPr>
              <a:xfrm>
                <a:off x="624840" y="1130815"/>
                <a:ext cx="1150438" cy="347663"/>
                <a:chOff x="624840" y="1130815"/>
                <a:chExt cx="1150438" cy="347663"/>
              </a:xfrm>
            </p:grpSpPr>
            <p:grpSp>
              <p:nvGrpSpPr>
                <p:cNvPr id="140" name="组合 139">
                  <a:extLst>
                    <a:ext uri="{FF2B5EF4-FFF2-40B4-BE49-F238E27FC236}">
                      <a16:creationId xmlns:a16="http://schemas.microsoft.com/office/drawing/2014/main" id="{30B910E1-581F-ED72-F557-63FCCAA0C15D}"/>
                    </a:ext>
                  </a:extLst>
                </p:cNvPr>
                <p:cNvGrpSpPr/>
                <p:nvPr/>
              </p:nvGrpSpPr>
              <p:grpSpPr>
                <a:xfrm>
                  <a:off x="624840" y="1130816"/>
                  <a:ext cx="962315" cy="282956"/>
                  <a:chOff x="752185" y="1281112"/>
                  <a:chExt cx="1652878" cy="871538"/>
                </a:xfrm>
              </p:grpSpPr>
              <p:sp>
                <p:nvSpPr>
                  <p:cNvPr id="144" name="梯形 143">
                    <a:extLst>
                      <a:ext uri="{FF2B5EF4-FFF2-40B4-BE49-F238E27FC236}">
                        <a16:creationId xmlns:a16="http://schemas.microsoft.com/office/drawing/2014/main" id="{3ED94ACC-5936-61DE-3F4B-54BDED3561AC}"/>
                      </a:ext>
                    </a:extLst>
                  </p:cNvPr>
                  <p:cNvSpPr/>
                  <p:nvPr/>
                </p:nvSpPr>
                <p:spPr>
                  <a:xfrm>
                    <a:off x="752475" y="1281113"/>
                    <a:ext cx="1652588" cy="871537"/>
                  </a:xfrm>
                  <a:prstGeom prst="trapezoid">
                    <a:avLst>
                      <a:gd name="adj" fmla="val 45110"/>
                    </a:avLst>
                  </a:prstGeom>
                  <a:solidFill>
                    <a:srgbClr val="4E708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45" name="矩形 144">
                    <a:extLst>
                      <a:ext uri="{FF2B5EF4-FFF2-40B4-BE49-F238E27FC236}">
                        <a16:creationId xmlns:a16="http://schemas.microsoft.com/office/drawing/2014/main" id="{68E388D5-5C03-12D2-1B32-9F7AF1C82203}"/>
                      </a:ext>
                    </a:extLst>
                  </p:cNvPr>
                  <p:cNvSpPr/>
                  <p:nvPr/>
                </p:nvSpPr>
                <p:spPr>
                  <a:xfrm>
                    <a:off x="752185" y="1281112"/>
                    <a:ext cx="357813" cy="871537"/>
                  </a:xfrm>
                  <a:prstGeom prst="rect">
                    <a:avLst/>
                  </a:prstGeom>
                  <a:solidFill>
                    <a:srgbClr val="4E708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41" name="平行四边形 140">
                  <a:extLst>
                    <a:ext uri="{FF2B5EF4-FFF2-40B4-BE49-F238E27FC236}">
                      <a16:creationId xmlns:a16="http://schemas.microsoft.com/office/drawing/2014/main" id="{F9800004-9A48-D18E-BB6B-F68065054706}"/>
                    </a:ext>
                  </a:extLst>
                </p:cNvPr>
                <p:cNvSpPr/>
                <p:nvPr/>
              </p:nvSpPr>
              <p:spPr>
                <a:xfrm flipH="1">
                  <a:off x="1487143" y="1130816"/>
                  <a:ext cx="176213" cy="282955"/>
                </a:xfrm>
                <a:prstGeom prst="parallelogram">
                  <a:avLst>
                    <a:gd name="adj" fmla="val 70590"/>
                  </a:avLst>
                </a:prstGeom>
                <a:solidFill>
                  <a:srgbClr val="4E70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2" name="平行四边形 141">
                  <a:extLst>
                    <a:ext uri="{FF2B5EF4-FFF2-40B4-BE49-F238E27FC236}">
                      <a16:creationId xmlns:a16="http://schemas.microsoft.com/office/drawing/2014/main" id="{D18875C1-AE23-6CEC-84A7-F18AAF3BE2A6}"/>
                    </a:ext>
                  </a:extLst>
                </p:cNvPr>
                <p:cNvSpPr/>
                <p:nvPr/>
              </p:nvSpPr>
              <p:spPr>
                <a:xfrm flipH="1">
                  <a:off x="1549056" y="1130815"/>
                  <a:ext cx="226222" cy="282955"/>
                </a:xfrm>
                <a:prstGeom prst="parallelogram">
                  <a:avLst>
                    <a:gd name="adj" fmla="val 53154"/>
                  </a:avLst>
                </a:prstGeom>
                <a:solidFill>
                  <a:srgbClr val="4E708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3" name="直角三角形 142">
                  <a:extLst>
                    <a:ext uri="{FF2B5EF4-FFF2-40B4-BE49-F238E27FC236}">
                      <a16:creationId xmlns:a16="http://schemas.microsoft.com/office/drawing/2014/main" id="{0E97D887-3B5C-64E2-DBC1-9BE87A038641}"/>
                    </a:ext>
                  </a:extLst>
                </p:cNvPr>
                <p:cNvSpPr/>
                <p:nvPr/>
              </p:nvSpPr>
              <p:spPr>
                <a:xfrm flipH="1" flipV="1">
                  <a:off x="626692" y="1413769"/>
                  <a:ext cx="138933" cy="64709"/>
                </a:xfrm>
                <a:prstGeom prst="rtTriangle">
                  <a:avLst/>
                </a:prstGeom>
                <a:solidFill>
                  <a:srgbClr val="3850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3BC1A2A5-19BD-1E19-2959-C2F7991329FC}"/>
                </a:ext>
              </a:extLst>
            </p:cNvPr>
            <p:cNvSpPr txBox="1"/>
            <p:nvPr/>
          </p:nvSpPr>
          <p:spPr>
            <a:xfrm>
              <a:off x="648826" y="4906192"/>
              <a:ext cx="9621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</a:rPr>
                <a:t>项目经历</a:t>
              </a:r>
            </a:p>
          </p:txBody>
        </p:sp>
      </p:grp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EC139732-7BA3-CDE7-89FE-C72DDE784748}"/>
              </a:ext>
            </a:extLst>
          </p:cNvPr>
          <p:cNvSpPr txBox="1"/>
          <p:nvPr/>
        </p:nvSpPr>
        <p:spPr>
          <a:xfrm>
            <a:off x="578486" y="8739722"/>
            <a:ext cx="6548889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zh-CN" sz="1100" dirty="0">
              <a:effectLst/>
            </a:endParaRPr>
          </a:p>
          <a:p>
            <a:pPr>
              <a:lnSpc>
                <a:spcPts val="1015"/>
              </a:lnSpc>
            </a:pPr>
            <a:br>
              <a:rPr lang="en-US" altLang="zh-CN" sz="11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sz="11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西电浪潮俱乐部</a:t>
            </a:r>
            <a:r>
              <a:rPr lang="zh-CN" altLang="zh-CN" sz="1100" b="1" spc="-175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</a:t>
            </a:r>
            <a:r>
              <a:rPr lang="en-US" altLang="zh-CN" sz="1100" b="1" spc="-8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11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组核心成员，目前进行了关于方向调研，和</a:t>
            </a:r>
            <a:r>
              <a:rPr lang="zh-CN" altLang="zh-CN" sz="1100" b="1" spc="-175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label-noise</a:t>
            </a:r>
            <a:r>
              <a:rPr lang="en-US" altLang="zh-CN" sz="1100" b="1" spc="-8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11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比赛，主要的任</a:t>
            </a:r>
            <a:endParaRPr lang="zh-CN" altLang="zh-CN" sz="1100" dirty="0"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18845"/>
            <a:br>
              <a:rPr lang="en-US" altLang="zh-CN" sz="11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sz="1100" b="1" spc="-1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务在科研上，以及下一届浪潮</a:t>
            </a:r>
            <a:r>
              <a:rPr lang="zh-CN" altLang="zh-CN" sz="1100" b="1" spc="-1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15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</a:t>
            </a:r>
            <a:r>
              <a:rPr lang="en-US" altLang="zh-CN" sz="1100" b="1" spc="-1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1100" b="1" spc="-15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组</a:t>
            </a:r>
            <a:r>
              <a:rPr lang="zh-CN" altLang="zh-CN" sz="1100" b="1" spc="-1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学生的培养计划</a:t>
            </a:r>
            <a:endParaRPr lang="zh-CN" altLang="zh-CN" sz="1100" dirty="0"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1100" b="1" dirty="0">
              <a:solidFill>
                <a:srgbClr val="575757"/>
              </a:solidFill>
              <a:latin typeface="Timess New Roman"/>
            </a:endParaRPr>
          </a:p>
        </p:txBody>
      </p:sp>
      <p:sp>
        <p:nvSpPr>
          <p:cNvPr id="1025" name="文本框 1024">
            <a:extLst>
              <a:ext uri="{FF2B5EF4-FFF2-40B4-BE49-F238E27FC236}">
                <a16:creationId xmlns:a16="http://schemas.microsoft.com/office/drawing/2014/main" id="{908A7C72-0E67-842C-C871-F689AA332F8F}"/>
              </a:ext>
            </a:extLst>
          </p:cNvPr>
          <p:cNvSpPr txBox="1"/>
          <p:nvPr/>
        </p:nvSpPr>
        <p:spPr>
          <a:xfrm>
            <a:off x="-1084082" y="3397128"/>
            <a:ext cx="9257121" cy="2094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1490"/>
            <a:r>
              <a:rPr lang="zh-CN" altLang="zh-CN" sz="1100" b="1" spc="-10" dirty="0">
                <a:solidFill>
                  <a:srgbClr val="575757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语言</a:t>
            </a:r>
            <a:r>
              <a:rPr lang="en-US" altLang="zh-CN" sz="1100" b="1" spc="-10" dirty="0">
                <a:solidFill>
                  <a:srgbClr val="575757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100" b="1" spc="-28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5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endParaRPr lang="zh-CN" altLang="zh-CN" sz="1100" dirty="0"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555"/>
              </a:lnSpc>
            </a:pPr>
            <a:r>
              <a:rPr lang="en-US" altLang="zh-CN" sz="11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dirty="0"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447925" marR="1798955" indent="-685800">
              <a:lnSpc>
                <a:spcPct val="200000"/>
              </a:lnSpc>
              <a:spcAft>
                <a:spcPts val="0"/>
              </a:spcAft>
            </a:pPr>
            <a:r>
              <a:rPr lang="en-US" altLang="zh-CN" sz="1100" b="1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sz="1100" b="1" spc="5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100" b="1" spc="-305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zh-CN" sz="1100" b="1" spc="5" dirty="0">
                <a:solidFill>
                  <a:srgbClr val="575757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方向：了解各种基础的网络模型并能够用于训练，</a:t>
            </a:r>
            <a:r>
              <a:rPr lang="en-US" altLang="zh-CN" sz="1100" b="1" spc="25" dirty="0" err="1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en-US" altLang="zh-CN" sz="1100" b="1" dirty="0" err="1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nn</a:t>
            </a:r>
            <a:r>
              <a:rPr lang="zh-CN" altLang="zh-CN" sz="1100" b="1" spc="15" dirty="0">
                <a:solidFill>
                  <a:srgbClr val="575757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100" b="1" spc="5" dirty="0" err="1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Rnn</a:t>
            </a:r>
            <a:r>
              <a:rPr lang="zh-CN" altLang="zh-CN" sz="1100" b="1" spc="20" dirty="0">
                <a:solidFill>
                  <a:srgbClr val="575757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100" b="1" spc="10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1100" b="1" spc="5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ransformer</a:t>
            </a:r>
            <a:r>
              <a:rPr lang="zh-CN" altLang="zh-CN" sz="1100" b="1" spc="20" dirty="0">
                <a:solidFill>
                  <a:srgbClr val="575757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，以及其他深度学习</a:t>
            </a:r>
            <a:r>
              <a:rPr lang="zh-CN" altLang="zh-CN" sz="1100" b="1" spc="15" dirty="0">
                <a:solidFill>
                  <a:srgbClr val="575757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和机器学</a:t>
            </a:r>
            <a:r>
              <a:rPr lang="zh-CN" altLang="zh-CN" sz="1100" b="1" spc="-20" dirty="0">
                <a:solidFill>
                  <a:srgbClr val="575757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习知识，以及能够使用</a:t>
            </a:r>
            <a:r>
              <a:rPr lang="zh-CN" altLang="zh-CN" sz="1100" b="1" spc="-1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15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en-US" altLang="zh-CN" sz="1100" b="1" spc="-2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zh-CN" sz="1100" b="1" spc="-15" dirty="0">
                <a:solidFill>
                  <a:srgbClr val="575757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相关</a:t>
            </a:r>
            <a:r>
              <a:rPr lang="zh-CN" altLang="zh-CN" sz="1100" b="1" spc="-20" dirty="0">
                <a:solidFill>
                  <a:srgbClr val="575757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库进行编程实</a:t>
            </a:r>
            <a:r>
              <a:rPr lang="zh-CN" altLang="zh-CN" sz="1100" b="1" spc="-15" dirty="0">
                <a:solidFill>
                  <a:srgbClr val="575757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现</a:t>
            </a:r>
            <a:endParaRPr lang="zh-CN" altLang="zh-CN" sz="1100" dirty="0"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447925" marR="1894840" indent="-685800">
              <a:lnSpc>
                <a:spcPct val="199000"/>
              </a:lnSpc>
              <a:spcAft>
                <a:spcPts val="0"/>
              </a:spcAft>
            </a:pPr>
            <a:r>
              <a:rPr lang="en-US" altLang="zh-CN" sz="1100" b="1" spc="-85" dirty="0" err="1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关于这个项目：</a:t>
            </a:r>
            <a:r>
              <a:rPr lang="en-US" altLang="zh-CN" sz="1100" b="1" spc="-95" dirty="0" err="1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</a:t>
            </a:r>
            <a:r>
              <a:rPr lang="en-US" altLang="zh-CN" sz="1100" b="1" spc="-85" dirty="0" err="1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</a:t>
            </a:r>
            <a:r>
              <a:rPr lang="en-US" altLang="zh-CN" sz="1100" b="1" spc="-4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45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image</a:t>
            </a:r>
            <a:r>
              <a:rPr lang="en-US" altLang="zh-CN" sz="1100" b="1" spc="-45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45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classification</a:t>
            </a:r>
            <a:r>
              <a:rPr lang="en-US" altLang="zh-CN" sz="1100" b="1" spc="-4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60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1100" b="1" spc="-5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85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图片</a:t>
            </a:r>
            <a:r>
              <a:rPr lang="en-US" altLang="zh-CN" sz="1100" b="1" spc="-90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lang="en-US" altLang="zh-CN" sz="1100" b="1" spc="-65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cifar</a:t>
            </a:r>
            <a:r>
              <a:rPr lang="en-US" altLang="zh-CN" sz="1100" b="1" spc="-70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en-US" altLang="zh-CN" sz="1100" b="1" spc="-65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65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en-US" altLang="zh-CN" sz="1100" b="1" spc="-65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65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cifar100</a:t>
            </a:r>
            <a:r>
              <a:rPr lang="en-US" altLang="zh-CN" sz="1100" b="1" spc="-65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140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1100" b="1" spc="-65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65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label</a:t>
            </a:r>
            <a:r>
              <a:rPr lang="en-US" altLang="zh-CN" sz="1100" b="1" spc="-7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65" dirty="0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noise</a:t>
            </a:r>
            <a:r>
              <a:rPr lang="en-US" altLang="zh-CN" sz="1100" b="1" spc="-7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65" dirty="0" err="1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detection</a:t>
            </a:r>
            <a:r>
              <a:rPr lang="en-US" altLang="zh-CN" sz="1100" b="1" spc="-155" dirty="0" err="1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100" b="1" spc="-130" dirty="0" err="1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</a:t>
            </a:r>
            <a:r>
              <a:rPr lang="en-US" altLang="zh-CN" sz="1100" b="1" dirty="0" err="1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够使用</a:t>
            </a:r>
            <a:r>
              <a:rPr lang="en-US" altLang="zh-CN" sz="1100" b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dirty="0" err="1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ViT，CNN</a:t>
            </a:r>
            <a:r>
              <a:rPr lang="en-US" altLang="zh-CN" sz="1100" b="1" spc="-45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dirty="0" err="1">
                <a:solidFill>
                  <a:srgbClr val="57575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以及其改进模型进行项目推动</a:t>
            </a:r>
            <a:endParaRPr lang="zh-CN" altLang="zh-CN" sz="1100" dirty="0"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s New Roman"/>
            </a:endParaRPr>
          </a:p>
        </p:txBody>
      </p:sp>
      <p:sp>
        <p:nvSpPr>
          <p:cNvPr id="1026" name="文本框 1025">
            <a:extLst>
              <a:ext uri="{FF2B5EF4-FFF2-40B4-BE49-F238E27FC236}">
                <a16:creationId xmlns:a16="http://schemas.microsoft.com/office/drawing/2014/main" id="{FE174F4F-2166-BD0A-D20C-68EF96534F1B}"/>
              </a:ext>
            </a:extLst>
          </p:cNvPr>
          <p:cNvSpPr txBox="1"/>
          <p:nvPr/>
        </p:nvSpPr>
        <p:spPr>
          <a:xfrm>
            <a:off x="302298" y="8053684"/>
            <a:ext cx="63296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100" b="1" dirty="0">
              <a:solidFill>
                <a:srgbClr val="575757"/>
              </a:solidFill>
              <a:latin typeface="Timess New Roman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2F0BB76F-2AFE-F8E6-EC03-967C00DD09DF}"/>
              </a:ext>
            </a:extLst>
          </p:cNvPr>
          <p:cNvSpPr txBox="1"/>
          <p:nvPr/>
        </p:nvSpPr>
        <p:spPr>
          <a:xfrm>
            <a:off x="-259946" y="5662183"/>
            <a:ext cx="6891922" cy="234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70"/>
              </a:lnSpc>
            </a:pP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dirty="0"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3920"/>
            <a:r>
              <a:rPr lang="en-US" altLang="zh-CN" sz="1100" b="1" spc="-1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比赛</a:t>
            </a:r>
            <a:r>
              <a:rPr lang="en-US" altLang="zh-CN" sz="1100" b="1" spc="-1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zh-CN" sz="1100" spc="-10" dirty="0"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3920"/>
            <a:r>
              <a:rPr lang="en-US" altLang="zh-CN" sz="1100" b="1" spc="-1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   </a:t>
            </a:r>
            <a:r>
              <a:rPr lang="en-US" altLang="zh-CN" sz="1100" b="1" spc="-35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1st</a:t>
            </a:r>
            <a:r>
              <a:rPr lang="en-US" altLang="zh-CN" sz="1100" b="1" spc="-35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4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Learning</a:t>
            </a:r>
            <a:r>
              <a:rPr lang="en-US" altLang="zh-CN" sz="1100" b="1" spc="-4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35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and</a:t>
            </a:r>
            <a:r>
              <a:rPr lang="en-US" altLang="zh-CN" sz="1100" b="1" spc="-4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35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Mining</a:t>
            </a:r>
            <a:r>
              <a:rPr lang="en-US" altLang="zh-CN" sz="1100" b="1" spc="-35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4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with</a:t>
            </a:r>
            <a:r>
              <a:rPr lang="en-US" altLang="zh-CN" sz="1100" b="1" spc="-4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35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Noisy</a:t>
            </a:r>
            <a:r>
              <a:rPr lang="en-US" altLang="zh-CN" sz="1100" b="1" spc="-4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4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Labels</a:t>
            </a:r>
            <a:r>
              <a:rPr lang="en-US" altLang="zh-CN" sz="1100" b="1" spc="-35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35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Challenge</a:t>
            </a:r>
            <a:r>
              <a:rPr lang="en-US" altLang="zh-CN" sz="1100" b="1" spc="-4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4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IJCAI-ECAI</a:t>
            </a:r>
            <a:r>
              <a:rPr lang="en-US" altLang="zh-CN" sz="1100" b="1" spc="-4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35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2022</a:t>
            </a:r>
            <a:r>
              <a:rPr lang="en-US" altLang="zh-CN" sz="1100" b="1" spc="-4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b="1" spc="-75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关于</a:t>
            </a:r>
            <a:r>
              <a:rPr lang="en-US" altLang="zh-CN" sz="1100" b="1" spc="-45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35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label</a:t>
            </a:r>
            <a:r>
              <a:rPr lang="en-US" altLang="zh-CN" sz="1100" b="1" spc="-5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</a:p>
          <a:p>
            <a:pPr marL="883920" marR="642620">
              <a:lnSpc>
                <a:spcPct val="200000"/>
              </a:lnSpc>
              <a:spcAft>
                <a:spcPts val="0"/>
              </a:spcAft>
            </a:pPr>
            <a:r>
              <a:rPr lang="en-US" altLang="zh-CN" sz="1100" b="1" spc="-35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noise</a:t>
            </a:r>
            <a:r>
              <a:rPr lang="en-US" altLang="zh-CN" sz="1100" b="1" spc="-7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</a:t>
            </a:r>
            <a:r>
              <a:rPr lang="en-US" altLang="zh-CN" sz="1100" b="1" spc="-75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的比赛</a:t>
            </a:r>
            <a:r>
              <a:rPr lang="en-US" altLang="zh-CN" sz="1100" b="1" spc="-3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b="1" spc="-10" dirty="0">
              <a:solidFill>
                <a:srgbClr val="000000"/>
              </a:solidFill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3920"/>
            <a:r>
              <a:rPr lang="en-US" altLang="zh-CN" sz="11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   </a:t>
            </a:r>
            <a:r>
              <a:rPr lang="en-US" altLang="zh-CN" sz="1100" b="1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星火杯比赛，数模校赛，以及西电的</a:t>
            </a:r>
            <a:r>
              <a:rPr lang="en-US" altLang="zh-CN" sz="1100" b="1" spc="-13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acm</a:t>
            </a:r>
            <a:r>
              <a:rPr lang="en-US" altLang="zh-CN" sz="1100" b="1" spc="-14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新生赛和校赛</a:t>
            </a:r>
            <a:endParaRPr lang="en-US" altLang="zh-CN" sz="1100" b="1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83920"/>
            <a:endParaRPr lang="en-US" altLang="zh-CN" sz="11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3920"/>
            <a:endParaRPr lang="zh-CN" altLang="zh-CN" sz="1100" dirty="0"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3920"/>
            <a:r>
              <a:rPr lang="en-US" altLang="zh-CN" sz="1100" b="1" spc="-1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</a:t>
            </a:r>
            <a:r>
              <a:rPr lang="en-US" altLang="zh-CN" sz="1100" b="1" spc="-5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</a:p>
          <a:p>
            <a:pPr marL="883920"/>
            <a:r>
              <a:rPr lang="en-US" altLang="zh-CN" sz="11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100" b="1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搭建基于</a:t>
            </a:r>
            <a:r>
              <a:rPr lang="en-US" altLang="zh-CN" sz="1100" b="1" spc="-11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K-means</a:t>
            </a:r>
            <a:r>
              <a:rPr lang="en-US" altLang="zh-CN" sz="1100" b="1" spc="-115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算法的图像分割应用网页</a:t>
            </a:r>
            <a:r>
              <a:rPr lang="en-US" altLang="zh-CN" sz="11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b="1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其中的</a:t>
            </a:r>
            <a:r>
              <a:rPr lang="en-US" altLang="zh-CN" sz="1100" b="1" spc="-115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K-means</a:t>
            </a:r>
            <a:r>
              <a:rPr lang="en-US" altLang="zh-CN" sz="1100" b="1" spc="-12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算法的部分我完成</a:t>
            </a:r>
            <a:r>
              <a:rPr lang="en-US" altLang="zh-CN" sz="11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endParaRPr lang="en-US" altLang="zh-CN" sz="1100" b="1" spc="-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83920"/>
            <a:r>
              <a:rPr lang="en-US" altLang="zh-CN" sz="1100" b="1" spc="-5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    </a:t>
            </a:r>
            <a:r>
              <a:rPr lang="en-US" altLang="zh-CN" sz="1100" b="1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</a:t>
            </a:r>
            <a:r>
              <a:rPr lang="en-US" altLang="zh-CN" sz="1100" b="1" spc="115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RNN</a:t>
            </a:r>
            <a:r>
              <a:rPr lang="en-US" altLang="zh-CN" sz="1100" b="1" spc="12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backbone</a:t>
            </a:r>
            <a:r>
              <a:rPr lang="en-US" altLang="zh-CN" sz="1100" b="1" spc="12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的智能歌曲创作</a:t>
            </a:r>
            <a:r>
              <a:rPr lang="en-US" altLang="zh-CN" sz="11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sz="1100" dirty="0"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150620">
              <a:spcBef>
                <a:spcPts val="10"/>
              </a:spcBef>
              <a:spcAft>
                <a:spcPts val="0"/>
              </a:spcAft>
            </a:pPr>
            <a:r>
              <a:rPr lang="en-US" altLang="zh-CN" sz="1100" b="1" spc="-5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图像模型中鲁棒性的对比研究数据</a:t>
            </a:r>
            <a:r>
              <a:rPr lang="en-US" altLang="zh-CN" sz="1100" b="1" spc="-1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收集</a:t>
            </a:r>
            <a:endParaRPr lang="zh-CN" altLang="zh-CN" sz="1100" dirty="0"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150620"/>
            <a:r>
              <a:rPr lang="en-US" altLang="zh-CN" sz="1100" b="1" spc="-4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其他的关于平时的</a:t>
            </a:r>
            <a:r>
              <a:rPr lang="en-US" altLang="zh-CN" sz="1100" b="1" spc="-15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15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sz="1100" b="1" spc="-2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100" b="1" spc="-2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b="1" spc="-4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的项目</a:t>
            </a:r>
            <a:endParaRPr lang="en-US" altLang="zh-CN" sz="1100" b="1" dirty="0">
              <a:solidFill>
                <a:srgbClr val="575757"/>
              </a:solidFill>
              <a:latin typeface="Timess New Roman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682BE5-39B2-4467-9E9B-45998819BF3C}"/>
              </a:ext>
            </a:extLst>
          </p:cNvPr>
          <p:cNvSpPr txBox="1"/>
          <p:nvPr/>
        </p:nvSpPr>
        <p:spPr>
          <a:xfrm>
            <a:off x="1609188" y="1129379"/>
            <a:ext cx="23690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学  校</a:t>
            </a:r>
            <a:r>
              <a:rPr lang="en-US" altLang="zh-CN" sz="1100" dirty="0"/>
              <a:t>: </a:t>
            </a:r>
            <a:r>
              <a:rPr lang="zh-CN" altLang="en-US" sz="1100" dirty="0"/>
              <a:t>西安电子科技大学</a:t>
            </a:r>
            <a:endParaRPr lang="en-US" altLang="zh-CN" sz="1100" dirty="0"/>
          </a:p>
          <a:p>
            <a:r>
              <a:rPr lang="zh-CN" altLang="en-US" sz="1100" dirty="0"/>
              <a:t>联系方式：</a:t>
            </a:r>
            <a:r>
              <a:rPr lang="en-US" altLang="zh-CN" sz="1100" dirty="0"/>
              <a:t>18007350482</a:t>
            </a:r>
          </a:p>
          <a:p>
            <a:r>
              <a:rPr lang="zh-CN" altLang="en-US" sz="1100" dirty="0"/>
              <a:t>邮箱：</a:t>
            </a:r>
            <a:r>
              <a:rPr lang="en-US" altLang="zh-CN" sz="1100" dirty="0">
                <a:hlinkClick r:id="rId11"/>
              </a:rPr>
              <a:t>ykzhou@stu.xidian.edu.cn</a:t>
            </a:r>
            <a:endParaRPr lang="en-US" altLang="zh-CN" sz="1100" dirty="0"/>
          </a:p>
          <a:p>
            <a:r>
              <a:rPr lang="en-US" altLang="zh-CN" sz="1100" dirty="0"/>
              <a:t>GitHub: </a:t>
            </a:r>
            <a:r>
              <a:rPr lang="en-US" altLang="zh-CN" sz="1100" dirty="0">
                <a:hlinkClick r:id="rId12"/>
              </a:rPr>
              <a:t>1zeryu (</a:t>
            </a:r>
            <a:r>
              <a:rPr lang="zh-CN" altLang="en-US" sz="1100" dirty="0">
                <a:hlinkClick r:id="rId12"/>
              </a:rPr>
              <a:t>周钰坤</a:t>
            </a:r>
            <a:r>
              <a:rPr lang="en-US" altLang="zh-CN" sz="1100" dirty="0">
                <a:hlinkClick r:id="rId12"/>
              </a:rPr>
              <a:t>) (github.com)</a:t>
            </a:r>
            <a:endParaRPr lang="zh-CN" altLang="en-US" sz="11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9C89E8-3D44-43C1-A477-4E3876627A8E}"/>
              </a:ext>
            </a:extLst>
          </p:cNvPr>
          <p:cNvSpPr txBox="1"/>
          <p:nvPr/>
        </p:nvSpPr>
        <p:spPr>
          <a:xfrm>
            <a:off x="3898016" y="1121346"/>
            <a:ext cx="187425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出生年月：</a:t>
            </a:r>
            <a:r>
              <a:rPr lang="en-US" altLang="zh-CN" sz="1100" dirty="0"/>
              <a:t>2003.11.02</a:t>
            </a:r>
          </a:p>
          <a:p>
            <a:r>
              <a:rPr lang="zh-CN" altLang="en-US" sz="1100" dirty="0"/>
              <a:t>专业：计算机大类</a:t>
            </a:r>
            <a:endParaRPr lang="en-US" altLang="zh-CN" sz="1100" dirty="0"/>
          </a:p>
          <a:p>
            <a:r>
              <a:rPr lang="zh-CN" altLang="en-US" sz="1100" dirty="0"/>
              <a:t>籍贯：湖南郴州</a:t>
            </a:r>
            <a:endParaRPr lang="en-US" altLang="zh-CN" sz="1100" dirty="0"/>
          </a:p>
          <a:p>
            <a:r>
              <a:rPr lang="zh-CN" altLang="en-US" sz="1100" dirty="0"/>
              <a:t>个人博客</a:t>
            </a:r>
            <a:r>
              <a:rPr lang="en-US" altLang="zh-CN" sz="1100" dirty="0"/>
              <a:t>: </a:t>
            </a:r>
            <a:r>
              <a:rPr lang="en-US" altLang="zh-CN" sz="1100" dirty="0">
                <a:hlinkClick r:id="rId13"/>
              </a:rPr>
              <a:t>1zeryu - </a:t>
            </a:r>
            <a:r>
              <a:rPr lang="zh-CN" altLang="en-US" sz="1100" dirty="0">
                <a:hlinkClick r:id="rId13"/>
              </a:rPr>
              <a:t>博客园 </a:t>
            </a:r>
            <a:r>
              <a:rPr lang="en-US" altLang="zh-CN" sz="1100" dirty="0">
                <a:hlinkClick r:id="rId13"/>
              </a:rPr>
              <a:t>(cnblogs.com)</a:t>
            </a:r>
            <a:endParaRPr lang="en-US" altLang="zh-CN" sz="11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36650E-ECCB-4712-A1F7-E70CF70123D0}"/>
              </a:ext>
            </a:extLst>
          </p:cNvPr>
          <p:cNvSpPr txBox="1"/>
          <p:nvPr/>
        </p:nvSpPr>
        <p:spPr>
          <a:xfrm>
            <a:off x="688608" y="2460342"/>
            <a:ext cx="18377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大类成绩：大类成绩前</a:t>
            </a:r>
            <a:r>
              <a:rPr lang="en-US" altLang="zh-CN" sz="1100" dirty="0"/>
              <a:t>10%</a:t>
            </a:r>
          </a:p>
          <a:p>
            <a:r>
              <a:rPr lang="zh-CN" altLang="en-US" sz="1100" dirty="0"/>
              <a:t>四级成绩：</a:t>
            </a:r>
            <a:r>
              <a:rPr lang="en-US" altLang="zh-CN" sz="1100" dirty="0"/>
              <a:t>543</a:t>
            </a:r>
            <a:endParaRPr lang="zh-CN" altLang="en-US" sz="11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8CFD3BA-093A-42D1-9B12-C3D365C4A9C9}"/>
              </a:ext>
            </a:extLst>
          </p:cNvPr>
          <p:cNvSpPr txBox="1"/>
          <p:nvPr/>
        </p:nvSpPr>
        <p:spPr>
          <a:xfrm>
            <a:off x="2695888" y="2460342"/>
            <a:ext cx="21392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大类均分：</a:t>
            </a:r>
            <a:r>
              <a:rPr lang="en-US" altLang="zh-CN" sz="1100" dirty="0"/>
              <a:t>89.6</a:t>
            </a:r>
          </a:p>
          <a:p>
            <a:r>
              <a:rPr lang="en-US" altLang="zh-CN" sz="1100" dirty="0"/>
              <a:t>GPA: 3.80/4.00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C93B3FD-1B8D-4091-B8FC-2F85ED23B60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9818028"/>
            <a:ext cx="6858000" cy="14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26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</TotalTime>
  <Words>246</Words>
  <Application>Microsoft Office PowerPoint</Application>
  <PresentationFormat>A4 纸张(210x297 毫米)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Timess New Roman</vt:lpstr>
      <vt:lpstr>等线</vt:lpstr>
      <vt:lpstr>华文新魏</vt:lpstr>
      <vt:lpstr>宋体</vt:lpstr>
      <vt:lpstr>Arial</vt:lpstr>
      <vt:lpstr>Calibri</vt:lpstr>
      <vt:lpstr>Calibri Light</vt:lpstr>
      <vt:lpstr>Cambria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徐 宇轲</dc:creator>
  <cp:lastModifiedBy>周 钰坤</cp:lastModifiedBy>
  <cp:revision>19</cp:revision>
  <dcterms:created xsi:type="dcterms:W3CDTF">2022-05-14T11:47:55Z</dcterms:created>
  <dcterms:modified xsi:type="dcterms:W3CDTF">2022-05-24T03:50:07Z</dcterms:modified>
</cp:coreProperties>
</file>